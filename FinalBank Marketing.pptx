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2" r:id="rId4"/>
    <p:sldId id="279" r:id="rId5"/>
    <p:sldId id="261" r:id="rId6"/>
    <p:sldId id="259" r:id="rId7"/>
    <p:sldId id="258" r:id="rId8"/>
    <p:sldId id="266" r:id="rId9"/>
    <p:sldId id="267" r:id="rId10"/>
    <p:sldId id="268" r:id="rId11"/>
    <p:sldId id="273" r:id="rId12"/>
    <p:sldId id="280"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5033" autoAdjust="0"/>
  </p:normalViewPr>
  <p:slideViewPr>
    <p:cSldViewPr snapToGrid="0">
      <p:cViewPr varScale="1">
        <p:scale>
          <a:sx n="82" d="100"/>
          <a:sy n="82" d="100"/>
        </p:scale>
        <p:origin x="691"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_rels/data2.xml.rels><?xml version="1.0" encoding="UTF-8" standalone="yes"?>
<Relationships xmlns="http://schemas.openxmlformats.org/package/2006/relationships"><Relationship Id="rId2" Type="http://schemas.openxmlformats.org/officeDocument/2006/relationships/hyperlink" Target="https://github.com/HegdeChaitra/Bank-Marketing-Campaign-Analysis" TargetMode="External"/><Relationship Id="rId1" Type="http://schemas.openxmlformats.org/officeDocument/2006/relationships/hyperlink" Target="https://medium.com/@nutanbhogendrasharma/deal-banking-marketing-campaign-dataset-with-machine-learning-9c1f84ad285d" TargetMode="External"/></Relationships>
</file>

<file path=ppt/diagrams/_rels/drawing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_rels/drawing2.xml.rels><?xml version="1.0" encoding="UTF-8" standalone="yes"?>
<Relationships xmlns="http://schemas.openxmlformats.org/package/2006/relationships"><Relationship Id="rId2" Type="http://schemas.openxmlformats.org/officeDocument/2006/relationships/hyperlink" Target="https://github.com/HegdeChaitra/Bank-Marketing-Campaign-Analysis" TargetMode="External"/><Relationship Id="rId1" Type="http://schemas.openxmlformats.org/officeDocument/2006/relationships/hyperlink" Target="https://medium.com/@nutanbhogendrasharma/deal-banking-marketing-campaign-dataset-with-machine-learning-9c1f84ad285d" TargetMode="Externa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FF1903B-F7EC-4444-BDAB-47655B5434E3}" type="doc">
      <dgm:prSet loTypeId="urn:microsoft.com/office/officeart/2018/5/layout/IconCircleLabelList" loCatId="icon" qsTypeId="urn:microsoft.com/office/officeart/2005/8/quickstyle/simple1" qsCatId="simple" csTypeId="urn:microsoft.com/office/officeart/2005/8/colors/accent1_2" csCatId="accent1" phldr="1"/>
      <dgm:spPr/>
      <dgm:t>
        <a:bodyPr/>
        <a:lstStyle/>
        <a:p>
          <a:endParaRPr lang="en-US"/>
        </a:p>
      </dgm:t>
    </dgm:pt>
    <dgm:pt modelId="{9334AC93-7FED-43C2-B3DC-CE3B8DC2C9CE}">
      <dgm:prSet/>
      <dgm:spPr/>
      <dgm:t>
        <a:bodyPr/>
        <a:lstStyle/>
        <a:p>
          <a:pPr>
            <a:lnSpc>
              <a:spcPct val="100000"/>
            </a:lnSpc>
            <a:defRPr cap="all"/>
          </a:pPr>
          <a:r>
            <a:rPr lang="en-US" b="1"/>
            <a:t>Overview and Objective</a:t>
          </a:r>
          <a:r>
            <a:rPr lang="en-US"/>
            <a:t>:</a:t>
          </a:r>
        </a:p>
      </dgm:t>
    </dgm:pt>
    <dgm:pt modelId="{51971A0C-614B-465F-B948-968A468A9BD0}" type="parTrans" cxnId="{B0DBB90F-714A-4085-B6FA-28C142309057}">
      <dgm:prSet/>
      <dgm:spPr/>
      <dgm:t>
        <a:bodyPr/>
        <a:lstStyle/>
        <a:p>
          <a:endParaRPr lang="en-US"/>
        </a:p>
      </dgm:t>
    </dgm:pt>
    <dgm:pt modelId="{D1C141E5-6C41-4F41-927D-D905A4E83580}" type="sibTrans" cxnId="{B0DBB90F-714A-4085-B6FA-28C142309057}">
      <dgm:prSet/>
      <dgm:spPr/>
      <dgm:t>
        <a:bodyPr/>
        <a:lstStyle/>
        <a:p>
          <a:endParaRPr lang="en-US"/>
        </a:p>
      </dgm:t>
    </dgm:pt>
    <dgm:pt modelId="{15E1FC03-7A94-4869-AE62-529B0F7CCAAE}">
      <dgm:prSet/>
      <dgm:spPr/>
      <dgm:t>
        <a:bodyPr/>
        <a:lstStyle/>
        <a:p>
          <a:pPr>
            <a:lnSpc>
              <a:spcPct val="100000"/>
            </a:lnSpc>
            <a:defRPr cap="all"/>
          </a:pPr>
          <a:r>
            <a:rPr lang="en-US" dirty="0"/>
            <a:t>This is the classic marketing bank dataset uploaded originally in the UCI Machine Learning Repository. The dataset gives information about a marketing campaign of a financial institution in which we will analyze in order to find ways to look for future strategies in order to improve future marketing campaigns for the bank.</a:t>
          </a:r>
        </a:p>
      </dgm:t>
    </dgm:pt>
    <dgm:pt modelId="{3A0E0372-8FCD-4FAE-B935-834970C4BFC2}" type="parTrans" cxnId="{243843D9-324F-4D60-872E-30624A1963BD}">
      <dgm:prSet/>
      <dgm:spPr/>
      <dgm:t>
        <a:bodyPr/>
        <a:lstStyle/>
        <a:p>
          <a:endParaRPr lang="en-US"/>
        </a:p>
      </dgm:t>
    </dgm:pt>
    <dgm:pt modelId="{4A1904B4-46BD-4876-84D7-20D2724D0883}" type="sibTrans" cxnId="{243843D9-324F-4D60-872E-30624A1963BD}">
      <dgm:prSet/>
      <dgm:spPr/>
      <dgm:t>
        <a:bodyPr/>
        <a:lstStyle/>
        <a:p>
          <a:endParaRPr lang="en-US"/>
        </a:p>
      </dgm:t>
    </dgm:pt>
    <dgm:pt modelId="{57460E99-0522-40B8-B9EB-87379A42FD49}">
      <dgm:prSet/>
      <dgm:spPr/>
      <dgm:t>
        <a:bodyPr/>
        <a:lstStyle/>
        <a:p>
          <a:pPr algn="ctr">
            <a:lnSpc>
              <a:spcPct val="100000"/>
            </a:lnSpc>
            <a:defRPr cap="all"/>
          </a:pPr>
          <a:r>
            <a:rPr lang="en-US" dirty="0"/>
            <a:t>Gaining the maximum value from a particular data collection is a challenging endeavor since it necessitates a thorough analysis of its many properties and accompanying values. In order to uncover hidden patterns, this process is typically accomplished by presenting data in a visual way.</a:t>
          </a:r>
        </a:p>
      </dgm:t>
    </dgm:pt>
    <dgm:pt modelId="{37EA6254-4960-4D10-AC96-110ABC44AAF1}" type="parTrans" cxnId="{B5FC47B4-D3E6-48B4-BCA5-6448CF93315C}">
      <dgm:prSet/>
      <dgm:spPr/>
      <dgm:t>
        <a:bodyPr/>
        <a:lstStyle/>
        <a:p>
          <a:endParaRPr lang="en-US"/>
        </a:p>
      </dgm:t>
    </dgm:pt>
    <dgm:pt modelId="{1FB0EDBC-0365-4DD0-925E-21CC9D85C1A1}" type="sibTrans" cxnId="{B5FC47B4-D3E6-48B4-BCA5-6448CF93315C}">
      <dgm:prSet/>
      <dgm:spPr/>
      <dgm:t>
        <a:bodyPr/>
        <a:lstStyle/>
        <a:p>
          <a:endParaRPr lang="en-US"/>
        </a:p>
      </dgm:t>
    </dgm:pt>
    <dgm:pt modelId="{0CDFDE75-9558-46B9-BB84-ED0A51762A20}">
      <dgm:prSet/>
      <dgm:spPr/>
      <dgm:t>
        <a:bodyPr/>
        <a:lstStyle/>
        <a:p>
          <a:pPr>
            <a:lnSpc>
              <a:spcPct val="100000"/>
            </a:lnSpc>
            <a:defRPr cap="all"/>
          </a:pPr>
          <a:r>
            <a:rPr lang="en-US"/>
            <a:t>In this study, a bank's direct marketing data collection is subjected to several visualization approaches.</a:t>
          </a:r>
        </a:p>
      </dgm:t>
    </dgm:pt>
    <dgm:pt modelId="{AE2D5C81-1E95-4652-BCCF-F090B53923F8}" type="parTrans" cxnId="{1A1D3CD0-903D-4C84-B434-7ACABAD17CC7}">
      <dgm:prSet/>
      <dgm:spPr/>
      <dgm:t>
        <a:bodyPr/>
        <a:lstStyle/>
        <a:p>
          <a:endParaRPr lang="en-US"/>
        </a:p>
      </dgm:t>
    </dgm:pt>
    <dgm:pt modelId="{1A917576-E049-4D1F-B7C6-77A88F7350AF}" type="sibTrans" cxnId="{1A1D3CD0-903D-4C84-B434-7ACABAD17CC7}">
      <dgm:prSet/>
      <dgm:spPr/>
      <dgm:t>
        <a:bodyPr/>
        <a:lstStyle/>
        <a:p>
          <a:endParaRPr lang="en-US"/>
        </a:p>
      </dgm:t>
    </dgm:pt>
    <dgm:pt modelId="{CAF1356F-30ED-43C2-9A18-F21812DD2DF7}">
      <dgm:prSet/>
      <dgm:spPr/>
      <dgm:t>
        <a:bodyPr/>
        <a:lstStyle/>
        <a:p>
          <a:pPr>
            <a:lnSpc>
              <a:spcPct val="100000"/>
            </a:lnSpc>
            <a:defRPr cap="all"/>
          </a:pPr>
          <a:r>
            <a:rPr lang="en-US" dirty="0"/>
            <a:t>The data set that was downloaded from the website of the UCI machine learning repository is unbalanced. As a result, several oversampling techniques are employed to improve the predictability of a client's subscription to a term deposit. The effectiveness of the visualization is evaluated by examining the impact of various classifier performance on oversampling strategies. </a:t>
          </a:r>
        </a:p>
      </dgm:t>
    </dgm:pt>
    <dgm:pt modelId="{2F776A6C-2E65-4160-A751-78E0C238AE7A}" type="parTrans" cxnId="{77E9F1FC-FD64-4997-8054-66A9C3E41DBB}">
      <dgm:prSet/>
      <dgm:spPr/>
      <dgm:t>
        <a:bodyPr/>
        <a:lstStyle/>
        <a:p>
          <a:endParaRPr lang="en-US"/>
        </a:p>
      </dgm:t>
    </dgm:pt>
    <dgm:pt modelId="{139207D7-2D97-480E-A62B-5CDA883A02FA}" type="sibTrans" cxnId="{77E9F1FC-FD64-4997-8054-66A9C3E41DBB}">
      <dgm:prSet/>
      <dgm:spPr/>
      <dgm:t>
        <a:bodyPr/>
        <a:lstStyle/>
        <a:p>
          <a:endParaRPr lang="en-US"/>
        </a:p>
      </dgm:t>
    </dgm:pt>
    <dgm:pt modelId="{5786294F-DEC2-4293-84A9-EC77CD5138C1}">
      <dgm:prSet/>
      <dgm:spPr/>
      <dgm:t>
        <a:bodyPr/>
        <a:lstStyle/>
        <a:p>
          <a:pPr>
            <a:lnSpc>
              <a:spcPct val="100000"/>
            </a:lnSpc>
            <a:defRPr cap="all"/>
          </a:pPr>
          <a:r>
            <a:rPr lang="en-US"/>
            <a:t>With various feature engineering Technique, we be using different Ensemble Models to Predict the outcome.</a:t>
          </a:r>
        </a:p>
      </dgm:t>
    </dgm:pt>
    <dgm:pt modelId="{164F7B82-D0DB-47C8-9C4A-717C2919D802}" type="parTrans" cxnId="{DB4D7BE8-2788-4ABF-8A8A-9DE06A247CCA}">
      <dgm:prSet/>
      <dgm:spPr/>
      <dgm:t>
        <a:bodyPr/>
        <a:lstStyle/>
        <a:p>
          <a:endParaRPr lang="en-US"/>
        </a:p>
      </dgm:t>
    </dgm:pt>
    <dgm:pt modelId="{6F8B4D7B-F7B2-4026-A82E-C210D33C9040}" type="sibTrans" cxnId="{DB4D7BE8-2788-4ABF-8A8A-9DE06A247CCA}">
      <dgm:prSet/>
      <dgm:spPr/>
      <dgm:t>
        <a:bodyPr/>
        <a:lstStyle/>
        <a:p>
          <a:endParaRPr lang="en-US"/>
        </a:p>
      </dgm:t>
    </dgm:pt>
    <dgm:pt modelId="{C48DFBFA-BCBB-411E-B9C0-823C59C437B0}" type="pres">
      <dgm:prSet presAssocID="{4FF1903B-F7EC-4444-BDAB-47655B5434E3}" presName="root" presStyleCnt="0">
        <dgm:presLayoutVars>
          <dgm:dir/>
          <dgm:resizeHandles val="exact"/>
        </dgm:presLayoutVars>
      </dgm:prSet>
      <dgm:spPr/>
    </dgm:pt>
    <dgm:pt modelId="{D878E16E-3119-4AA1-AD53-E2BA0ACEF925}" type="pres">
      <dgm:prSet presAssocID="{9334AC93-7FED-43C2-B3DC-CE3B8DC2C9CE}" presName="compNode" presStyleCnt="0"/>
      <dgm:spPr/>
    </dgm:pt>
    <dgm:pt modelId="{2BFA3105-DD7E-4F49-B89D-634527FE1292}" type="pres">
      <dgm:prSet presAssocID="{9334AC93-7FED-43C2-B3DC-CE3B8DC2C9CE}" presName="iconBgRect" presStyleLbl="bgShp" presStyleIdx="0" presStyleCnt="6"/>
      <dgm:spPr/>
    </dgm:pt>
    <dgm:pt modelId="{FFE9AF13-E64D-47D3-B989-80BA40463DA6}" type="pres">
      <dgm:prSet presAssocID="{9334AC93-7FED-43C2-B3DC-CE3B8DC2C9CE}"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ullseye"/>
        </a:ext>
      </dgm:extLst>
    </dgm:pt>
    <dgm:pt modelId="{ACB08384-8639-45EE-B0D3-3E9661019C98}" type="pres">
      <dgm:prSet presAssocID="{9334AC93-7FED-43C2-B3DC-CE3B8DC2C9CE}" presName="spaceRect" presStyleCnt="0"/>
      <dgm:spPr/>
    </dgm:pt>
    <dgm:pt modelId="{CE7EE082-A849-480C-9B11-76E52C406A06}" type="pres">
      <dgm:prSet presAssocID="{9334AC93-7FED-43C2-B3DC-CE3B8DC2C9CE}" presName="textRect" presStyleLbl="revTx" presStyleIdx="0" presStyleCnt="6">
        <dgm:presLayoutVars>
          <dgm:chMax val="1"/>
          <dgm:chPref val="1"/>
        </dgm:presLayoutVars>
      </dgm:prSet>
      <dgm:spPr/>
    </dgm:pt>
    <dgm:pt modelId="{4AB171EA-DC02-4BDF-B577-77F8233ECAB7}" type="pres">
      <dgm:prSet presAssocID="{D1C141E5-6C41-4F41-927D-D905A4E83580}" presName="sibTrans" presStyleCnt="0"/>
      <dgm:spPr/>
    </dgm:pt>
    <dgm:pt modelId="{D5F60356-3A3A-41C8-A82A-DA63D604DBD7}" type="pres">
      <dgm:prSet presAssocID="{15E1FC03-7A94-4869-AE62-529B0F7CCAAE}" presName="compNode" presStyleCnt="0"/>
      <dgm:spPr/>
    </dgm:pt>
    <dgm:pt modelId="{7205414C-6F7E-452D-B3F8-2345DCE802DB}" type="pres">
      <dgm:prSet presAssocID="{15E1FC03-7A94-4869-AE62-529B0F7CCAAE}" presName="iconBgRect" presStyleLbl="bgShp" presStyleIdx="1" presStyleCnt="6"/>
      <dgm:spPr/>
    </dgm:pt>
    <dgm:pt modelId="{98E7825B-3ED8-4D73-8290-F04632E47BA8}" type="pres">
      <dgm:prSet presAssocID="{15E1FC03-7A94-4869-AE62-529B0F7CCAAE}"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atabase"/>
        </a:ext>
      </dgm:extLst>
    </dgm:pt>
    <dgm:pt modelId="{58254020-F4FE-4C91-B546-13457CE22B7F}" type="pres">
      <dgm:prSet presAssocID="{15E1FC03-7A94-4869-AE62-529B0F7CCAAE}" presName="spaceRect" presStyleCnt="0"/>
      <dgm:spPr/>
    </dgm:pt>
    <dgm:pt modelId="{7124F48F-ECF9-4963-B5E0-106D6C0B38A1}" type="pres">
      <dgm:prSet presAssocID="{15E1FC03-7A94-4869-AE62-529B0F7CCAAE}" presName="textRect" presStyleLbl="revTx" presStyleIdx="1" presStyleCnt="6">
        <dgm:presLayoutVars>
          <dgm:chMax val="1"/>
          <dgm:chPref val="1"/>
        </dgm:presLayoutVars>
      </dgm:prSet>
      <dgm:spPr/>
    </dgm:pt>
    <dgm:pt modelId="{EFA3A457-B69E-413E-8066-257D631F9589}" type="pres">
      <dgm:prSet presAssocID="{4A1904B4-46BD-4876-84D7-20D2724D0883}" presName="sibTrans" presStyleCnt="0"/>
      <dgm:spPr/>
    </dgm:pt>
    <dgm:pt modelId="{40473495-6A38-4A1F-A64D-FB33E33DECD9}" type="pres">
      <dgm:prSet presAssocID="{57460E99-0522-40B8-B9EB-87379A42FD49}" presName="compNode" presStyleCnt="0"/>
      <dgm:spPr/>
    </dgm:pt>
    <dgm:pt modelId="{77BB66AE-C6CD-4C87-BF19-86B4B9230927}" type="pres">
      <dgm:prSet presAssocID="{57460E99-0522-40B8-B9EB-87379A42FD49}" presName="iconBgRect" presStyleLbl="bgShp" presStyleIdx="2" presStyleCnt="6"/>
      <dgm:spPr/>
    </dgm:pt>
    <dgm:pt modelId="{720FAB3D-E86B-49B7-97EE-2F8D05E8F275}" type="pres">
      <dgm:prSet presAssocID="{57460E99-0522-40B8-B9EB-87379A42FD49}"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tatistics"/>
        </a:ext>
      </dgm:extLst>
    </dgm:pt>
    <dgm:pt modelId="{8D509AE2-E4D8-431C-A14B-41B9A6992D45}" type="pres">
      <dgm:prSet presAssocID="{57460E99-0522-40B8-B9EB-87379A42FD49}" presName="spaceRect" presStyleCnt="0"/>
      <dgm:spPr/>
    </dgm:pt>
    <dgm:pt modelId="{F5415842-70B8-499A-8D5F-CC35885B63A2}" type="pres">
      <dgm:prSet presAssocID="{57460E99-0522-40B8-B9EB-87379A42FD49}" presName="textRect" presStyleLbl="revTx" presStyleIdx="2" presStyleCnt="6">
        <dgm:presLayoutVars>
          <dgm:chMax val="1"/>
          <dgm:chPref val="1"/>
        </dgm:presLayoutVars>
      </dgm:prSet>
      <dgm:spPr/>
    </dgm:pt>
    <dgm:pt modelId="{D5517D4C-E44E-4517-A5E2-603B93C0720E}" type="pres">
      <dgm:prSet presAssocID="{1FB0EDBC-0365-4DD0-925E-21CC9D85C1A1}" presName="sibTrans" presStyleCnt="0"/>
      <dgm:spPr/>
    </dgm:pt>
    <dgm:pt modelId="{B059C31F-50A2-4906-ABFF-80FED407ED13}" type="pres">
      <dgm:prSet presAssocID="{0CDFDE75-9558-46B9-BB84-ED0A51762A20}" presName="compNode" presStyleCnt="0"/>
      <dgm:spPr/>
    </dgm:pt>
    <dgm:pt modelId="{5EECBF88-C93A-46DA-BBB0-FBC4E93E003D}" type="pres">
      <dgm:prSet presAssocID="{0CDFDE75-9558-46B9-BB84-ED0A51762A20}" presName="iconBgRect" presStyleLbl="bgShp" presStyleIdx="3" presStyleCnt="6"/>
      <dgm:spPr/>
    </dgm:pt>
    <dgm:pt modelId="{36AB7A67-561C-4D41-ACF4-326E731F5F15}" type="pres">
      <dgm:prSet presAssocID="{0CDFDE75-9558-46B9-BB84-ED0A51762A20}"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Bank"/>
        </a:ext>
      </dgm:extLst>
    </dgm:pt>
    <dgm:pt modelId="{0BCE67A1-B872-45B7-9FBB-39043842386E}" type="pres">
      <dgm:prSet presAssocID="{0CDFDE75-9558-46B9-BB84-ED0A51762A20}" presName="spaceRect" presStyleCnt="0"/>
      <dgm:spPr/>
    </dgm:pt>
    <dgm:pt modelId="{165AE7E4-FE6F-4968-843D-32E3B7E0256E}" type="pres">
      <dgm:prSet presAssocID="{0CDFDE75-9558-46B9-BB84-ED0A51762A20}" presName="textRect" presStyleLbl="revTx" presStyleIdx="3" presStyleCnt="6">
        <dgm:presLayoutVars>
          <dgm:chMax val="1"/>
          <dgm:chPref val="1"/>
        </dgm:presLayoutVars>
      </dgm:prSet>
      <dgm:spPr/>
    </dgm:pt>
    <dgm:pt modelId="{0A650429-2294-4B31-B67C-65787F917D0D}" type="pres">
      <dgm:prSet presAssocID="{1A917576-E049-4D1F-B7C6-77A88F7350AF}" presName="sibTrans" presStyleCnt="0"/>
      <dgm:spPr/>
    </dgm:pt>
    <dgm:pt modelId="{67CFBA61-F4E1-4026-8E0E-1576E0507078}" type="pres">
      <dgm:prSet presAssocID="{CAF1356F-30ED-43C2-9A18-F21812DD2DF7}" presName="compNode" presStyleCnt="0"/>
      <dgm:spPr/>
    </dgm:pt>
    <dgm:pt modelId="{9FFED6C3-ADD4-4252-A394-94AA285D4B32}" type="pres">
      <dgm:prSet presAssocID="{CAF1356F-30ED-43C2-9A18-F21812DD2DF7}" presName="iconBgRect" presStyleLbl="bgShp" presStyleIdx="4" presStyleCnt="6"/>
      <dgm:spPr/>
    </dgm:pt>
    <dgm:pt modelId="{48901B8F-818F-44EA-AEF8-FEF3DA9BD328}" type="pres">
      <dgm:prSet presAssocID="{CAF1356F-30ED-43C2-9A18-F21812DD2DF7}"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Flowchart"/>
        </a:ext>
      </dgm:extLst>
    </dgm:pt>
    <dgm:pt modelId="{29892A95-4499-4506-B1D8-962D5C9AA279}" type="pres">
      <dgm:prSet presAssocID="{CAF1356F-30ED-43C2-9A18-F21812DD2DF7}" presName="spaceRect" presStyleCnt="0"/>
      <dgm:spPr/>
    </dgm:pt>
    <dgm:pt modelId="{B08C5092-EFA8-4D00-A58B-CFD6E9590D0E}" type="pres">
      <dgm:prSet presAssocID="{CAF1356F-30ED-43C2-9A18-F21812DD2DF7}" presName="textRect" presStyleLbl="revTx" presStyleIdx="4" presStyleCnt="6">
        <dgm:presLayoutVars>
          <dgm:chMax val="1"/>
          <dgm:chPref val="1"/>
        </dgm:presLayoutVars>
      </dgm:prSet>
      <dgm:spPr/>
    </dgm:pt>
    <dgm:pt modelId="{D1174C05-1A67-4BDC-95A0-2F07B27AA8D4}" type="pres">
      <dgm:prSet presAssocID="{139207D7-2D97-480E-A62B-5CDA883A02FA}" presName="sibTrans" presStyleCnt="0"/>
      <dgm:spPr/>
    </dgm:pt>
    <dgm:pt modelId="{D79FE2A6-B3CE-4E8E-B746-A02EF3A2522D}" type="pres">
      <dgm:prSet presAssocID="{5786294F-DEC2-4293-84A9-EC77CD5138C1}" presName="compNode" presStyleCnt="0"/>
      <dgm:spPr/>
    </dgm:pt>
    <dgm:pt modelId="{D35138F3-D5FE-4F35-A780-1065406BD999}" type="pres">
      <dgm:prSet presAssocID="{5786294F-DEC2-4293-84A9-EC77CD5138C1}" presName="iconBgRect" presStyleLbl="bgShp" presStyleIdx="5" presStyleCnt="6"/>
      <dgm:spPr/>
    </dgm:pt>
    <dgm:pt modelId="{361CC442-C701-4CD2-9AB5-66AA2E5BE79C}" type="pres">
      <dgm:prSet presAssocID="{5786294F-DEC2-4293-84A9-EC77CD5138C1}"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Bridge scene"/>
        </a:ext>
      </dgm:extLst>
    </dgm:pt>
    <dgm:pt modelId="{93797621-02ED-4E93-8CCE-816CB0B6D064}" type="pres">
      <dgm:prSet presAssocID="{5786294F-DEC2-4293-84A9-EC77CD5138C1}" presName="spaceRect" presStyleCnt="0"/>
      <dgm:spPr/>
    </dgm:pt>
    <dgm:pt modelId="{68337EDA-451C-4D02-BDFB-0E3BD8413850}" type="pres">
      <dgm:prSet presAssocID="{5786294F-DEC2-4293-84A9-EC77CD5138C1}" presName="textRect" presStyleLbl="revTx" presStyleIdx="5" presStyleCnt="6">
        <dgm:presLayoutVars>
          <dgm:chMax val="1"/>
          <dgm:chPref val="1"/>
        </dgm:presLayoutVars>
      </dgm:prSet>
      <dgm:spPr/>
    </dgm:pt>
  </dgm:ptLst>
  <dgm:cxnLst>
    <dgm:cxn modelId="{B0DBB90F-714A-4085-B6FA-28C142309057}" srcId="{4FF1903B-F7EC-4444-BDAB-47655B5434E3}" destId="{9334AC93-7FED-43C2-B3DC-CE3B8DC2C9CE}" srcOrd="0" destOrd="0" parTransId="{51971A0C-614B-465F-B948-968A468A9BD0}" sibTransId="{D1C141E5-6C41-4F41-927D-D905A4E83580}"/>
    <dgm:cxn modelId="{F3A22A37-C827-4E77-8654-E893F8D10B1F}" type="presOf" srcId="{0CDFDE75-9558-46B9-BB84-ED0A51762A20}" destId="{165AE7E4-FE6F-4968-843D-32E3B7E0256E}" srcOrd="0" destOrd="0" presId="urn:microsoft.com/office/officeart/2018/5/layout/IconCircleLabelList"/>
    <dgm:cxn modelId="{7115B676-9A9C-4DAA-85C2-57DBC28B8FDE}" type="presOf" srcId="{4FF1903B-F7EC-4444-BDAB-47655B5434E3}" destId="{C48DFBFA-BCBB-411E-B9C0-823C59C437B0}" srcOrd="0" destOrd="0" presId="urn:microsoft.com/office/officeart/2018/5/layout/IconCircleLabelList"/>
    <dgm:cxn modelId="{85CC8577-6ABE-40E9-A3C6-DCDACBD74367}" type="presOf" srcId="{5786294F-DEC2-4293-84A9-EC77CD5138C1}" destId="{68337EDA-451C-4D02-BDFB-0E3BD8413850}" srcOrd="0" destOrd="0" presId="urn:microsoft.com/office/officeart/2018/5/layout/IconCircleLabelList"/>
    <dgm:cxn modelId="{A74B858E-6839-4E4E-8FD2-15FED0B0FA53}" type="presOf" srcId="{9334AC93-7FED-43C2-B3DC-CE3B8DC2C9CE}" destId="{CE7EE082-A849-480C-9B11-76E52C406A06}" srcOrd="0" destOrd="0" presId="urn:microsoft.com/office/officeart/2018/5/layout/IconCircleLabelList"/>
    <dgm:cxn modelId="{119FB091-DE02-422D-87FB-1FADD330A818}" type="presOf" srcId="{57460E99-0522-40B8-B9EB-87379A42FD49}" destId="{F5415842-70B8-499A-8D5F-CC35885B63A2}" srcOrd="0" destOrd="0" presId="urn:microsoft.com/office/officeart/2018/5/layout/IconCircleLabelList"/>
    <dgm:cxn modelId="{B5FC47B4-D3E6-48B4-BCA5-6448CF93315C}" srcId="{4FF1903B-F7EC-4444-BDAB-47655B5434E3}" destId="{57460E99-0522-40B8-B9EB-87379A42FD49}" srcOrd="2" destOrd="0" parTransId="{37EA6254-4960-4D10-AC96-110ABC44AAF1}" sibTransId="{1FB0EDBC-0365-4DD0-925E-21CC9D85C1A1}"/>
    <dgm:cxn modelId="{09230FB9-8CDB-49C2-A114-24E7ADA9EE38}" type="presOf" srcId="{15E1FC03-7A94-4869-AE62-529B0F7CCAAE}" destId="{7124F48F-ECF9-4963-B5E0-106D6C0B38A1}" srcOrd="0" destOrd="0" presId="urn:microsoft.com/office/officeart/2018/5/layout/IconCircleLabelList"/>
    <dgm:cxn modelId="{69CE6EC8-B15A-4D81-81AE-6A4D7242EEDF}" type="presOf" srcId="{CAF1356F-30ED-43C2-9A18-F21812DD2DF7}" destId="{B08C5092-EFA8-4D00-A58B-CFD6E9590D0E}" srcOrd="0" destOrd="0" presId="urn:microsoft.com/office/officeart/2018/5/layout/IconCircleLabelList"/>
    <dgm:cxn modelId="{1A1D3CD0-903D-4C84-B434-7ACABAD17CC7}" srcId="{4FF1903B-F7EC-4444-BDAB-47655B5434E3}" destId="{0CDFDE75-9558-46B9-BB84-ED0A51762A20}" srcOrd="3" destOrd="0" parTransId="{AE2D5C81-1E95-4652-BCCF-F090B53923F8}" sibTransId="{1A917576-E049-4D1F-B7C6-77A88F7350AF}"/>
    <dgm:cxn modelId="{243843D9-324F-4D60-872E-30624A1963BD}" srcId="{4FF1903B-F7EC-4444-BDAB-47655B5434E3}" destId="{15E1FC03-7A94-4869-AE62-529B0F7CCAAE}" srcOrd="1" destOrd="0" parTransId="{3A0E0372-8FCD-4FAE-B935-834970C4BFC2}" sibTransId="{4A1904B4-46BD-4876-84D7-20D2724D0883}"/>
    <dgm:cxn modelId="{DB4D7BE8-2788-4ABF-8A8A-9DE06A247CCA}" srcId="{4FF1903B-F7EC-4444-BDAB-47655B5434E3}" destId="{5786294F-DEC2-4293-84A9-EC77CD5138C1}" srcOrd="5" destOrd="0" parTransId="{164F7B82-D0DB-47C8-9C4A-717C2919D802}" sibTransId="{6F8B4D7B-F7B2-4026-A82E-C210D33C9040}"/>
    <dgm:cxn modelId="{77E9F1FC-FD64-4997-8054-66A9C3E41DBB}" srcId="{4FF1903B-F7EC-4444-BDAB-47655B5434E3}" destId="{CAF1356F-30ED-43C2-9A18-F21812DD2DF7}" srcOrd="4" destOrd="0" parTransId="{2F776A6C-2E65-4160-A751-78E0C238AE7A}" sibTransId="{139207D7-2D97-480E-A62B-5CDA883A02FA}"/>
    <dgm:cxn modelId="{A82A6B1F-6183-42DA-B4A4-7817CACDA2EC}" type="presParOf" srcId="{C48DFBFA-BCBB-411E-B9C0-823C59C437B0}" destId="{D878E16E-3119-4AA1-AD53-E2BA0ACEF925}" srcOrd="0" destOrd="0" presId="urn:microsoft.com/office/officeart/2018/5/layout/IconCircleLabelList"/>
    <dgm:cxn modelId="{3C1DC65E-7D32-4EFA-ADB7-A58383CB9E0E}" type="presParOf" srcId="{D878E16E-3119-4AA1-AD53-E2BA0ACEF925}" destId="{2BFA3105-DD7E-4F49-B89D-634527FE1292}" srcOrd="0" destOrd="0" presId="urn:microsoft.com/office/officeart/2018/5/layout/IconCircleLabelList"/>
    <dgm:cxn modelId="{5A04D5A7-3A7D-44BE-8220-ECC51D7A0E3E}" type="presParOf" srcId="{D878E16E-3119-4AA1-AD53-E2BA0ACEF925}" destId="{FFE9AF13-E64D-47D3-B989-80BA40463DA6}" srcOrd="1" destOrd="0" presId="urn:microsoft.com/office/officeart/2018/5/layout/IconCircleLabelList"/>
    <dgm:cxn modelId="{46853159-228E-4FA2-B183-7B0E7F146270}" type="presParOf" srcId="{D878E16E-3119-4AA1-AD53-E2BA0ACEF925}" destId="{ACB08384-8639-45EE-B0D3-3E9661019C98}" srcOrd="2" destOrd="0" presId="urn:microsoft.com/office/officeart/2018/5/layout/IconCircleLabelList"/>
    <dgm:cxn modelId="{1830FD21-159A-4AB6-B7F0-1D48E9959B9C}" type="presParOf" srcId="{D878E16E-3119-4AA1-AD53-E2BA0ACEF925}" destId="{CE7EE082-A849-480C-9B11-76E52C406A06}" srcOrd="3" destOrd="0" presId="urn:microsoft.com/office/officeart/2018/5/layout/IconCircleLabelList"/>
    <dgm:cxn modelId="{5E886FC4-9D9D-4B9F-AF6E-870ABF1D520A}" type="presParOf" srcId="{C48DFBFA-BCBB-411E-B9C0-823C59C437B0}" destId="{4AB171EA-DC02-4BDF-B577-77F8233ECAB7}" srcOrd="1" destOrd="0" presId="urn:microsoft.com/office/officeart/2018/5/layout/IconCircleLabelList"/>
    <dgm:cxn modelId="{B318B8CA-A086-4D7E-9201-126E5C92581A}" type="presParOf" srcId="{C48DFBFA-BCBB-411E-B9C0-823C59C437B0}" destId="{D5F60356-3A3A-41C8-A82A-DA63D604DBD7}" srcOrd="2" destOrd="0" presId="urn:microsoft.com/office/officeart/2018/5/layout/IconCircleLabelList"/>
    <dgm:cxn modelId="{4EE72C46-757C-4493-8917-5D9DD105EE0D}" type="presParOf" srcId="{D5F60356-3A3A-41C8-A82A-DA63D604DBD7}" destId="{7205414C-6F7E-452D-B3F8-2345DCE802DB}" srcOrd="0" destOrd="0" presId="urn:microsoft.com/office/officeart/2018/5/layout/IconCircleLabelList"/>
    <dgm:cxn modelId="{12D120E4-53CC-4FC9-AF34-16BC5171E8CC}" type="presParOf" srcId="{D5F60356-3A3A-41C8-A82A-DA63D604DBD7}" destId="{98E7825B-3ED8-4D73-8290-F04632E47BA8}" srcOrd="1" destOrd="0" presId="urn:microsoft.com/office/officeart/2018/5/layout/IconCircleLabelList"/>
    <dgm:cxn modelId="{90FBFFD2-1ACA-45B6-ACE3-57313A954BCB}" type="presParOf" srcId="{D5F60356-3A3A-41C8-A82A-DA63D604DBD7}" destId="{58254020-F4FE-4C91-B546-13457CE22B7F}" srcOrd="2" destOrd="0" presId="urn:microsoft.com/office/officeart/2018/5/layout/IconCircleLabelList"/>
    <dgm:cxn modelId="{14E5FD7D-7E12-4B3B-BBC6-8C4911682C13}" type="presParOf" srcId="{D5F60356-3A3A-41C8-A82A-DA63D604DBD7}" destId="{7124F48F-ECF9-4963-B5E0-106D6C0B38A1}" srcOrd="3" destOrd="0" presId="urn:microsoft.com/office/officeart/2018/5/layout/IconCircleLabelList"/>
    <dgm:cxn modelId="{D911E2AB-B040-4C47-A0CD-572629C77035}" type="presParOf" srcId="{C48DFBFA-BCBB-411E-B9C0-823C59C437B0}" destId="{EFA3A457-B69E-413E-8066-257D631F9589}" srcOrd="3" destOrd="0" presId="urn:microsoft.com/office/officeart/2018/5/layout/IconCircleLabelList"/>
    <dgm:cxn modelId="{40E82762-3AA0-4E40-A118-B39235D18D1C}" type="presParOf" srcId="{C48DFBFA-BCBB-411E-B9C0-823C59C437B0}" destId="{40473495-6A38-4A1F-A64D-FB33E33DECD9}" srcOrd="4" destOrd="0" presId="urn:microsoft.com/office/officeart/2018/5/layout/IconCircleLabelList"/>
    <dgm:cxn modelId="{307C04EB-1C11-4715-8AF5-3A0B3DAE2DB6}" type="presParOf" srcId="{40473495-6A38-4A1F-A64D-FB33E33DECD9}" destId="{77BB66AE-C6CD-4C87-BF19-86B4B9230927}" srcOrd="0" destOrd="0" presId="urn:microsoft.com/office/officeart/2018/5/layout/IconCircleLabelList"/>
    <dgm:cxn modelId="{0F5C18DD-8CC7-4E58-8AF7-80CF1E79DBCE}" type="presParOf" srcId="{40473495-6A38-4A1F-A64D-FB33E33DECD9}" destId="{720FAB3D-E86B-49B7-97EE-2F8D05E8F275}" srcOrd="1" destOrd="0" presId="urn:microsoft.com/office/officeart/2018/5/layout/IconCircleLabelList"/>
    <dgm:cxn modelId="{F00274C1-5FCA-446A-96FB-35B924C43869}" type="presParOf" srcId="{40473495-6A38-4A1F-A64D-FB33E33DECD9}" destId="{8D509AE2-E4D8-431C-A14B-41B9A6992D45}" srcOrd="2" destOrd="0" presId="urn:microsoft.com/office/officeart/2018/5/layout/IconCircleLabelList"/>
    <dgm:cxn modelId="{D4358835-844D-43CC-B8F5-036BF508F8C1}" type="presParOf" srcId="{40473495-6A38-4A1F-A64D-FB33E33DECD9}" destId="{F5415842-70B8-499A-8D5F-CC35885B63A2}" srcOrd="3" destOrd="0" presId="urn:microsoft.com/office/officeart/2018/5/layout/IconCircleLabelList"/>
    <dgm:cxn modelId="{B48BDEFA-7D15-42D8-A8DD-4A90229964DF}" type="presParOf" srcId="{C48DFBFA-BCBB-411E-B9C0-823C59C437B0}" destId="{D5517D4C-E44E-4517-A5E2-603B93C0720E}" srcOrd="5" destOrd="0" presId="urn:microsoft.com/office/officeart/2018/5/layout/IconCircleLabelList"/>
    <dgm:cxn modelId="{59E39FAA-4E8B-45DB-AE55-2E41835FB594}" type="presParOf" srcId="{C48DFBFA-BCBB-411E-B9C0-823C59C437B0}" destId="{B059C31F-50A2-4906-ABFF-80FED407ED13}" srcOrd="6" destOrd="0" presId="urn:microsoft.com/office/officeart/2018/5/layout/IconCircleLabelList"/>
    <dgm:cxn modelId="{1F692D56-1DCF-4EDB-AE28-C0330B7DF137}" type="presParOf" srcId="{B059C31F-50A2-4906-ABFF-80FED407ED13}" destId="{5EECBF88-C93A-46DA-BBB0-FBC4E93E003D}" srcOrd="0" destOrd="0" presId="urn:microsoft.com/office/officeart/2018/5/layout/IconCircleLabelList"/>
    <dgm:cxn modelId="{2B1A2C50-A53D-4C6F-A799-E39BFEC82D80}" type="presParOf" srcId="{B059C31F-50A2-4906-ABFF-80FED407ED13}" destId="{36AB7A67-561C-4D41-ACF4-326E731F5F15}" srcOrd="1" destOrd="0" presId="urn:microsoft.com/office/officeart/2018/5/layout/IconCircleLabelList"/>
    <dgm:cxn modelId="{7C7286D1-4A39-4895-960A-A6423F6F6286}" type="presParOf" srcId="{B059C31F-50A2-4906-ABFF-80FED407ED13}" destId="{0BCE67A1-B872-45B7-9FBB-39043842386E}" srcOrd="2" destOrd="0" presId="urn:microsoft.com/office/officeart/2018/5/layout/IconCircleLabelList"/>
    <dgm:cxn modelId="{6E3B68E3-9B20-4BB1-8F31-925D34EA41AA}" type="presParOf" srcId="{B059C31F-50A2-4906-ABFF-80FED407ED13}" destId="{165AE7E4-FE6F-4968-843D-32E3B7E0256E}" srcOrd="3" destOrd="0" presId="urn:microsoft.com/office/officeart/2018/5/layout/IconCircleLabelList"/>
    <dgm:cxn modelId="{5C3803DC-7B43-4F24-9E8D-7A96662D65C5}" type="presParOf" srcId="{C48DFBFA-BCBB-411E-B9C0-823C59C437B0}" destId="{0A650429-2294-4B31-B67C-65787F917D0D}" srcOrd="7" destOrd="0" presId="urn:microsoft.com/office/officeart/2018/5/layout/IconCircleLabelList"/>
    <dgm:cxn modelId="{C0D08A8E-CAF0-4630-BAC4-CB779C7569F6}" type="presParOf" srcId="{C48DFBFA-BCBB-411E-B9C0-823C59C437B0}" destId="{67CFBA61-F4E1-4026-8E0E-1576E0507078}" srcOrd="8" destOrd="0" presId="urn:microsoft.com/office/officeart/2018/5/layout/IconCircleLabelList"/>
    <dgm:cxn modelId="{5E336679-DB33-4ECA-94BA-424693CD96F8}" type="presParOf" srcId="{67CFBA61-F4E1-4026-8E0E-1576E0507078}" destId="{9FFED6C3-ADD4-4252-A394-94AA285D4B32}" srcOrd="0" destOrd="0" presId="urn:microsoft.com/office/officeart/2018/5/layout/IconCircleLabelList"/>
    <dgm:cxn modelId="{8D63F6F6-D156-43EA-839E-A01FF0084AA3}" type="presParOf" srcId="{67CFBA61-F4E1-4026-8E0E-1576E0507078}" destId="{48901B8F-818F-44EA-AEF8-FEF3DA9BD328}" srcOrd="1" destOrd="0" presId="urn:microsoft.com/office/officeart/2018/5/layout/IconCircleLabelList"/>
    <dgm:cxn modelId="{E509DD87-7762-4CA7-9E4E-D0EC633251C0}" type="presParOf" srcId="{67CFBA61-F4E1-4026-8E0E-1576E0507078}" destId="{29892A95-4499-4506-B1D8-962D5C9AA279}" srcOrd="2" destOrd="0" presId="urn:microsoft.com/office/officeart/2018/5/layout/IconCircleLabelList"/>
    <dgm:cxn modelId="{EA5F26ED-E6D8-4365-9274-52955C0B8142}" type="presParOf" srcId="{67CFBA61-F4E1-4026-8E0E-1576E0507078}" destId="{B08C5092-EFA8-4D00-A58B-CFD6E9590D0E}" srcOrd="3" destOrd="0" presId="urn:microsoft.com/office/officeart/2018/5/layout/IconCircleLabelList"/>
    <dgm:cxn modelId="{FC6E0EAF-3020-47B1-9481-E5E36E3EB3F8}" type="presParOf" srcId="{C48DFBFA-BCBB-411E-B9C0-823C59C437B0}" destId="{D1174C05-1A67-4BDC-95A0-2F07B27AA8D4}" srcOrd="9" destOrd="0" presId="urn:microsoft.com/office/officeart/2018/5/layout/IconCircleLabelList"/>
    <dgm:cxn modelId="{DC9AAD52-595E-43AC-802D-9A612D22B7CA}" type="presParOf" srcId="{C48DFBFA-BCBB-411E-B9C0-823C59C437B0}" destId="{D79FE2A6-B3CE-4E8E-B746-A02EF3A2522D}" srcOrd="10" destOrd="0" presId="urn:microsoft.com/office/officeart/2018/5/layout/IconCircleLabelList"/>
    <dgm:cxn modelId="{8A905FC2-7E85-4417-AE60-6110A2824998}" type="presParOf" srcId="{D79FE2A6-B3CE-4E8E-B746-A02EF3A2522D}" destId="{D35138F3-D5FE-4F35-A780-1065406BD999}" srcOrd="0" destOrd="0" presId="urn:microsoft.com/office/officeart/2018/5/layout/IconCircleLabelList"/>
    <dgm:cxn modelId="{9A4A1A4D-EF2C-4903-8C4B-2BA5E0E10ECC}" type="presParOf" srcId="{D79FE2A6-B3CE-4E8E-B746-A02EF3A2522D}" destId="{361CC442-C701-4CD2-9AB5-66AA2E5BE79C}" srcOrd="1" destOrd="0" presId="urn:microsoft.com/office/officeart/2018/5/layout/IconCircleLabelList"/>
    <dgm:cxn modelId="{1E5CF411-2629-4F17-8A47-AE8F452A5195}" type="presParOf" srcId="{D79FE2A6-B3CE-4E8E-B746-A02EF3A2522D}" destId="{93797621-02ED-4E93-8CCE-816CB0B6D064}" srcOrd="2" destOrd="0" presId="urn:microsoft.com/office/officeart/2018/5/layout/IconCircleLabelList"/>
    <dgm:cxn modelId="{0899C1C6-FEEA-44D6-A629-1C8A82F31B5F}" type="presParOf" srcId="{D79FE2A6-B3CE-4E8E-B746-A02EF3A2522D}" destId="{68337EDA-451C-4D02-BDFB-0E3BD8413850}"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4390F13-E157-4DDB-A5F4-B7072F932B3D}"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7AADABCA-990E-4256-AE7E-6C4DA66FF849}">
      <dgm:prSet/>
      <dgm:spPr/>
      <dgm:t>
        <a:bodyPr/>
        <a:lstStyle/>
        <a:p>
          <a:r>
            <a:rPr lang="en-US" b="1"/>
            <a:t>References:</a:t>
          </a:r>
          <a:endParaRPr lang="en-US"/>
        </a:p>
      </dgm:t>
    </dgm:pt>
    <dgm:pt modelId="{0913A593-5574-462F-9745-BFCB150F666A}" type="parTrans" cxnId="{E9346FD9-737E-43B4-9C04-0B6E3DC59CE0}">
      <dgm:prSet/>
      <dgm:spPr/>
      <dgm:t>
        <a:bodyPr/>
        <a:lstStyle/>
        <a:p>
          <a:endParaRPr lang="en-US"/>
        </a:p>
      </dgm:t>
    </dgm:pt>
    <dgm:pt modelId="{6329A583-AD4C-4631-B2B6-766962FCC155}" type="sibTrans" cxnId="{E9346FD9-737E-43B4-9C04-0B6E3DC59CE0}">
      <dgm:prSet/>
      <dgm:spPr/>
      <dgm:t>
        <a:bodyPr/>
        <a:lstStyle/>
        <a:p>
          <a:endParaRPr lang="en-US"/>
        </a:p>
      </dgm:t>
    </dgm:pt>
    <dgm:pt modelId="{FA924B8B-A2D6-4727-9D07-36E2D6554C26}">
      <dgm:prSet/>
      <dgm:spPr/>
      <dgm:t>
        <a:bodyPr/>
        <a:lstStyle/>
        <a:p>
          <a:r>
            <a:rPr lang="en-US"/>
            <a:t>“Marketing analytics: Methods, practice, implementation, and links to other fields,” Expert Systems with Applications, 2018. S. L. France and S. Ghose,</a:t>
          </a:r>
        </a:p>
      </dgm:t>
    </dgm:pt>
    <dgm:pt modelId="{E78BDA09-A485-4BF2-8A63-13907AB5AE5E}" type="parTrans" cxnId="{D2FD4E67-32C6-4A22-A03C-D0AC5F16E3CE}">
      <dgm:prSet/>
      <dgm:spPr/>
      <dgm:t>
        <a:bodyPr/>
        <a:lstStyle/>
        <a:p>
          <a:endParaRPr lang="en-US"/>
        </a:p>
      </dgm:t>
    </dgm:pt>
    <dgm:pt modelId="{E3E03787-3C94-472B-B4F7-D220B3FB0843}" type="sibTrans" cxnId="{D2FD4E67-32C6-4A22-A03C-D0AC5F16E3CE}">
      <dgm:prSet/>
      <dgm:spPr/>
      <dgm:t>
        <a:bodyPr/>
        <a:lstStyle/>
        <a:p>
          <a:endParaRPr lang="en-US"/>
        </a:p>
      </dgm:t>
    </dgm:pt>
    <dgm:pt modelId="{DA765491-C52A-4D07-9643-22A55C3EE9D6}">
      <dgm:prSet/>
      <dgm:spPr/>
      <dgm:t>
        <a:bodyPr/>
        <a:lstStyle/>
        <a:p>
          <a:r>
            <a:rPr lang="en-US" dirty="0"/>
            <a:t>S. </a:t>
          </a:r>
          <a:r>
            <a:rPr lang="en-US" dirty="0" err="1"/>
            <a:t>Palaniappan</a:t>
          </a:r>
          <a:r>
            <a:rPr lang="en-US" dirty="0"/>
            <a:t>, A. Mustapha, C. F. M. </a:t>
          </a:r>
          <a:r>
            <a:rPr lang="en-US" dirty="0" err="1"/>
            <a:t>Foozy</a:t>
          </a:r>
          <a:r>
            <a:rPr lang="en-US" dirty="0"/>
            <a:t>, and R. </a:t>
          </a:r>
          <a:r>
            <a:rPr lang="en-US" dirty="0" err="1"/>
            <a:t>Atan</a:t>
          </a:r>
          <a:r>
            <a:rPr lang="en-US" dirty="0"/>
            <a:t>, “Customer profiling using classification approach for bank telemarketing,” JOIV: International Journal on Informatics Visualization, vol. 1, no. 4-2, pp. 214–217, 2017.</a:t>
          </a:r>
        </a:p>
      </dgm:t>
    </dgm:pt>
    <dgm:pt modelId="{039887F5-4387-4A20-A4F0-3CA073942ECD}" type="parTrans" cxnId="{C04E109A-319F-471C-B310-D178FC346628}">
      <dgm:prSet/>
      <dgm:spPr/>
      <dgm:t>
        <a:bodyPr/>
        <a:lstStyle/>
        <a:p>
          <a:endParaRPr lang="en-US"/>
        </a:p>
      </dgm:t>
    </dgm:pt>
    <dgm:pt modelId="{72BDE31F-2CF3-4B98-BFF4-2F8C6596F1CF}" type="sibTrans" cxnId="{C04E109A-319F-471C-B310-D178FC346628}">
      <dgm:prSet/>
      <dgm:spPr/>
      <dgm:t>
        <a:bodyPr/>
        <a:lstStyle/>
        <a:p>
          <a:endParaRPr lang="en-US"/>
        </a:p>
      </dgm:t>
    </dgm:pt>
    <dgm:pt modelId="{31568BEE-C4CF-411D-A68D-4D4200D733E3}">
      <dgm:prSet/>
      <dgm:spPr/>
      <dgm:t>
        <a:bodyPr/>
        <a:lstStyle/>
        <a:p>
          <a:r>
            <a:rPr lang="en-US"/>
            <a:t>Deal Banking Marketing Campaign Dataset with Machine Learning: </a:t>
          </a:r>
          <a:r>
            <a:rPr lang="en-US" u="sng">
              <a:hlinkClick xmlns:r="http://schemas.openxmlformats.org/officeDocument/2006/relationships" r:id="rId1"/>
            </a:rPr>
            <a:t>https://medium.com/@nutanbhogendrasharma/deal-banking-marketing-campaign-dataset-with-machine-learning-9c1f84ad285d</a:t>
          </a:r>
          <a:endParaRPr lang="en-US"/>
        </a:p>
      </dgm:t>
    </dgm:pt>
    <dgm:pt modelId="{812EA720-6214-453B-920B-06461E93E63D}" type="parTrans" cxnId="{AE940DB3-210E-46A0-94E3-E3BB547488BB}">
      <dgm:prSet/>
      <dgm:spPr/>
      <dgm:t>
        <a:bodyPr/>
        <a:lstStyle/>
        <a:p>
          <a:endParaRPr lang="en-US"/>
        </a:p>
      </dgm:t>
    </dgm:pt>
    <dgm:pt modelId="{8EE9E5C5-AE63-49B0-9392-92E29523ED45}" type="sibTrans" cxnId="{AE940DB3-210E-46A0-94E3-E3BB547488BB}">
      <dgm:prSet/>
      <dgm:spPr/>
      <dgm:t>
        <a:bodyPr/>
        <a:lstStyle/>
        <a:p>
          <a:endParaRPr lang="en-US"/>
        </a:p>
      </dgm:t>
    </dgm:pt>
    <dgm:pt modelId="{12E540BA-9F61-4EC5-B8AC-FF547C2F2C0B}">
      <dgm:prSet/>
      <dgm:spPr/>
      <dgm:t>
        <a:bodyPr/>
        <a:lstStyle/>
        <a:p>
          <a:r>
            <a:rPr lang="en-US"/>
            <a:t>Analysis on Bank Marketing Campaign for Portuguese Bank: </a:t>
          </a:r>
          <a:r>
            <a:rPr lang="en-US" u="sng">
              <a:hlinkClick xmlns:r="http://schemas.openxmlformats.org/officeDocument/2006/relationships" r:id="rId2"/>
            </a:rPr>
            <a:t>https://github.com/HegdeChaitra/Bank-Marketing-Campaign-Analysis</a:t>
          </a:r>
          <a:endParaRPr lang="en-US"/>
        </a:p>
      </dgm:t>
    </dgm:pt>
    <dgm:pt modelId="{91B4DE37-6255-49EF-BC62-73A0DB15FFFB}" type="parTrans" cxnId="{4135CFB1-7569-470E-B05F-306EE109F11E}">
      <dgm:prSet/>
      <dgm:spPr/>
      <dgm:t>
        <a:bodyPr/>
        <a:lstStyle/>
        <a:p>
          <a:endParaRPr lang="en-US"/>
        </a:p>
      </dgm:t>
    </dgm:pt>
    <dgm:pt modelId="{C4A03ECA-76EC-44B4-B555-9E3ADDA21358}" type="sibTrans" cxnId="{4135CFB1-7569-470E-B05F-306EE109F11E}">
      <dgm:prSet/>
      <dgm:spPr/>
      <dgm:t>
        <a:bodyPr/>
        <a:lstStyle/>
        <a:p>
          <a:endParaRPr lang="en-US"/>
        </a:p>
      </dgm:t>
    </dgm:pt>
    <dgm:pt modelId="{05A2A896-9D96-4ED4-9C0F-5CBCB4634F22}" type="pres">
      <dgm:prSet presAssocID="{E4390F13-E157-4DDB-A5F4-B7072F932B3D}" presName="linear" presStyleCnt="0">
        <dgm:presLayoutVars>
          <dgm:animLvl val="lvl"/>
          <dgm:resizeHandles val="exact"/>
        </dgm:presLayoutVars>
      </dgm:prSet>
      <dgm:spPr/>
    </dgm:pt>
    <dgm:pt modelId="{1CC58231-40CC-4AC0-8842-9F55AAA57C09}" type="pres">
      <dgm:prSet presAssocID="{7AADABCA-990E-4256-AE7E-6C4DA66FF849}" presName="parentText" presStyleLbl="node1" presStyleIdx="0" presStyleCnt="1">
        <dgm:presLayoutVars>
          <dgm:chMax val="0"/>
          <dgm:bulletEnabled val="1"/>
        </dgm:presLayoutVars>
      </dgm:prSet>
      <dgm:spPr/>
    </dgm:pt>
    <dgm:pt modelId="{3B091728-7060-4D7F-8488-224B6CC87FF1}" type="pres">
      <dgm:prSet presAssocID="{7AADABCA-990E-4256-AE7E-6C4DA66FF849}" presName="childText" presStyleLbl="revTx" presStyleIdx="0" presStyleCnt="1">
        <dgm:presLayoutVars>
          <dgm:bulletEnabled val="1"/>
        </dgm:presLayoutVars>
      </dgm:prSet>
      <dgm:spPr/>
    </dgm:pt>
  </dgm:ptLst>
  <dgm:cxnLst>
    <dgm:cxn modelId="{7FE82132-613E-40D3-907D-3815DCE9D07F}" type="presOf" srcId="{12E540BA-9F61-4EC5-B8AC-FF547C2F2C0B}" destId="{3B091728-7060-4D7F-8488-224B6CC87FF1}" srcOrd="0" destOrd="3" presId="urn:microsoft.com/office/officeart/2005/8/layout/vList2"/>
    <dgm:cxn modelId="{B9453A36-3C1C-4F24-A42A-36E2280B3D3B}" type="presOf" srcId="{DA765491-C52A-4D07-9643-22A55C3EE9D6}" destId="{3B091728-7060-4D7F-8488-224B6CC87FF1}" srcOrd="0" destOrd="1" presId="urn:microsoft.com/office/officeart/2005/8/layout/vList2"/>
    <dgm:cxn modelId="{29565D64-10D4-45E6-9CE8-D01B9906F427}" type="presOf" srcId="{7AADABCA-990E-4256-AE7E-6C4DA66FF849}" destId="{1CC58231-40CC-4AC0-8842-9F55AAA57C09}" srcOrd="0" destOrd="0" presId="urn:microsoft.com/office/officeart/2005/8/layout/vList2"/>
    <dgm:cxn modelId="{D2FD4E67-32C6-4A22-A03C-D0AC5F16E3CE}" srcId="{7AADABCA-990E-4256-AE7E-6C4DA66FF849}" destId="{FA924B8B-A2D6-4727-9D07-36E2D6554C26}" srcOrd="0" destOrd="0" parTransId="{E78BDA09-A485-4BF2-8A63-13907AB5AE5E}" sibTransId="{E3E03787-3C94-472B-B4F7-D220B3FB0843}"/>
    <dgm:cxn modelId="{551BE36D-49AD-4ECD-A2BA-0110832A4C60}" type="presOf" srcId="{FA924B8B-A2D6-4727-9D07-36E2D6554C26}" destId="{3B091728-7060-4D7F-8488-224B6CC87FF1}" srcOrd="0" destOrd="0" presId="urn:microsoft.com/office/officeart/2005/8/layout/vList2"/>
    <dgm:cxn modelId="{8377FF52-3827-4055-A135-7DDBBD966647}" type="presOf" srcId="{E4390F13-E157-4DDB-A5F4-B7072F932B3D}" destId="{05A2A896-9D96-4ED4-9C0F-5CBCB4634F22}" srcOrd="0" destOrd="0" presId="urn:microsoft.com/office/officeart/2005/8/layout/vList2"/>
    <dgm:cxn modelId="{C04E109A-319F-471C-B310-D178FC346628}" srcId="{7AADABCA-990E-4256-AE7E-6C4DA66FF849}" destId="{DA765491-C52A-4D07-9643-22A55C3EE9D6}" srcOrd="1" destOrd="0" parTransId="{039887F5-4387-4A20-A4F0-3CA073942ECD}" sibTransId="{72BDE31F-2CF3-4B98-BFF4-2F8C6596F1CF}"/>
    <dgm:cxn modelId="{88664BA2-93AA-4BD2-BB7B-8A08E6FF8926}" type="presOf" srcId="{31568BEE-C4CF-411D-A68D-4D4200D733E3}" destId="{3B091728-7060-4D7F-8488-224B6CC87FF1}" srcOrd="0" destOrd="2" presId="urn:microsoft.com/office/officeart/2005/8/layout/vList2"/>
    <dgm:cxn modelId="{4135CFB1-7569-470E-B05F-306EE109F11E}" srcId="{7AADABCA-990E-4256-AE7E-6C4DA66FF849}" destId="{12E540BA-9F61-4EC5-B8AC-FF547C2F2C0B}" srcOrd="3" destOrd="0" parTransId="{91B4DE37-6255-49EF-BC62-73A0DB15FFFB}" sibTransId="{C4A03ECA-76EC-44B4-B555-9E3ADDA21358}"/>
    <dgm:cxn modelId="{AE940DB3-210E-46A0-94E3-E3BB547488BB}" srcId="{7AADABCA-990E-4256-AE7E-6C4DA66FF849}" destId="{31568BEE-C4CF-411D-A68D-4D4200D733E3}" srcOrd="2" destOrd="0" parTransId="{812EA720-6214-453B-920B-06461E93E63D}" sibTransId="{8EE9E5C5-AE63-49B0-9392-92E29523ED45}"/>
    <dgm:cxn modelId="{E9346FD9-737E-43B4-9C04-0B6E3DC59CE0}" srcId="{E4390F13-E157-4DDB-A5F4-B7072F932B3D}" destId="{7AADABCA-990E-4256-AE7E-6C4DA66FF849}" srcOrd="0" destOrd="0" parTransId="{0913A593-5574-462F-9745-BFCB150F666A}" sibTransId="{6329A583-AD4C-4631-B2B6-766962FCC155}"/>
    <dgm:cxn modelId="{9D016611-330E-4652-8F63-D07E49185FA6}" type="presParOf" srcId="{05A2A896-9D96-4ED4-9C0F-5CBCB4634F22}" destId="{1CC58231-40CC-4AC0-8842-9F55AAA57C09}" srcOrd="0" destOrd="0" presId="urn:microsoft.com/office/officeart/2005/8/layout/vList2"/>
    <dgm:cxn modelId="{4D148783-4874-4EFB-8FA2-C9A1EB6E2C82}" type="presParOf" srcId="{05A2A896-9D96-4ED4-9C0F-5CBCB4634F22}" destId="{3B091728-7060-4D7F-8488-224B6CC87FF1}"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FA3105-DD7E-4F49-B89D-634527FE1292}">
      <dsp:nvSpPr>
        <dsp:cNvPr id="0" name=""/>
        <dsp:cNvSpPr/>
      </dsp:nvSpPr>
      <dsp:spPr>
        <a:xfrm>
          <a:off x="283343" y="83346"/>
          <a:ext cx="872824" cy="87282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E9AF13-E64D-47D3-B989-80BA40463DA6}">
      <dsp:nvSpPr>
        <dsp:cNvPr id="0" name=""/>
        <dsp:cNvSpPr/>
      </dsp:nvSpPr>
      <dsp:spPr>
        <a:xfrm>
          <a:off x="469355" y="269358"/>
          <a:ext cx="500800" cy="5008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E7EE082-A849-480C-9B11-76E52C406A06}">
      <dsp:nvSpPr>
        <dsp:cNvPr id="0" name=""/>
        <dsp:cNvSpPr/>
      </dsp:nvSpPr>
      <dsp:spPr>
        <a:xfrm>
          <a:off x="4326" y="1228033"/>
          <a:ext cx="1430859" cy="24592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b="1" kern="1200"/>
            <a:t>Overview and Objective</a:t>
          </a:r>
          <a:r>
            <a:rPr lang="en-US" sz="1100" kern="1200"/>
            <a:t>:</a:t>
          </a:r>
        </a:p>
      </dsp:txBody>
      <dsp:txXfrm>
        <a:off x="4326" y="1228033"/>
        <a:ext cx="1430859" cy="2459289"/>
      </dsp:txXfrm>
    </dsp:sp>
    <dsp:sp modelId="{7205414C-6F7E-452D-B3F8-2345DCE802DB}">
      <dsp:nvSpPr>
        <dsp:cNvPr id="0" name=""/>
        <dsp:cNvSpPr/>
      </dsp:nvSpPr>
      <dsp:spPr>
        <a:xfrm>
          <a:off x="1964603" y="83346"/>
          <a:ext cx="872824" cy="87282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8E7825B-3ED8-4D73-8290-F04632E47BA8}">
      <dsp:nvSpPr>
        <dsp:cNvPr id="0" name=""/>
        <dsp:cNvSpPr/>
      </dsp:nvSpPr>
      <dsp:spPr>
        <a:xfrm>
          <a:off x="2150615" y="269358"/>
          <a:ext cx="500800" cy="5008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124F48F-ECF9-4963-B5E0-106D6C0B38A1}">
      <dsp:nvSpPr>
        <dsp:cNvPr id="0" name=""/>
        <dsp:cNvSpPr/>
      </dsp:nvSpPr>
      <dsp:spPr>
        <a:xfrm>
          <a:off x="1685586" y="1228033"/>
          <a:ext cx="1430859" cy="24592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dirty="0"/>
            <a:t>This is the classic marketing bank dataset uploaded originally in the UCI Machine Learning Repository. The dataset gives information about a marketing campaign of a financial institution in which we will analyze in order to find ways to look for future strategies in order to improve future marketing campaigns for the bank.</a:t>
          </a:r>
        </a:p>
      </dsp:txBody>
      <dsp:txXfrm>
        <a:off x="1685586" y="1228033"/>
        <a:ext cx="1430859" cy="2459289"/>
      </dsp:txXfrm>
    </dsp:sp>
    <dsp:sp modelId="{77BB66AE-C6CD-4C87-BF19-86B4B9230927}">
      <dsp:nvSpPr>
        <dsp:cNvPr id="0" name=""/>
        <dsp:cNvSpPr/>
      </dsp:nvSpPr>
      <dsp:spPr>
        <a:xfrm>
          <a:off x="3645863" y="83346"/>
          <a:ext cx="872824" cy="87282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20FAB3D-E86B-49B7-97EE-2F8D05E8F275}">
      <dsp:nvSpPr>
        <dsp:cNvPr id="0" name=""/>
        <dsp:cNvSpPr/>
      </dsp:nvSpPr>
      <dsp:spPr>
        <a:xfrm>
          <a:off x="3831875" y="269358"/>
          <a:ext cx="500800" cy="5008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5415842-70B8-499A-8D5F-CC35885B63A2}">
      <dsp:nvSpPr>
        <dsp:cNvPr id="0" name=""/>
        <dsp:cNvSpPr/>
      </dsp:nvSpPr>
      <dsp:spPr>
        <a:xfrm>
          <a:off x="3366845" y="1228033"/>
          <a:ext cx="1430859" cy="24592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dirty="0"/>
            <a:t>Gaining the maximum value from a particular data collection is a challenging endeavor since it necessitates a thorough analysis of its many properties and accompanying values. In order to uncover hidden patterns, this process is typically accomplished by presenting data in a visual way.</a:t>
          </a:r>
        </a:p>
      </dsp:txBody>
      <dsp:txXfrm>
        <a:off x="3366845" y="1228033"/>
        <a:ext cx="1430859" cy="2459289"/>
      </dsp:txXfrm>
    </dsp:sp>
    <dsp:sp modelId="{5EECBF88-C93A-46DA-BBB0-FBC4E93E003D}">
      <dsp:nvSpPr>
        <dsp:cNvPr id="0" name=""/>
        <dsp:cNvSpPr/>
      </dsp:nvSpPr>
      <dsp:spPr>
        <a:xfrm>
          <a:off x="5327123" y="83346"/>
          <a:ext cx="872824" cy="87282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6AB7A67-561C-4D41-ACF4-326E731F5F15}">
      <dsp:nvSpPr>
        <dsp:cNvPr id="0" name=""/>
        <dsp:cNvSpPr/>
      </dsp:nvSpPr>
      <dsp:spPr>
        <a:xfrm>
          <a:off x="5513134" y="269358"/>
          <a:ext cx="500800" cy="5008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65AE7E4-FE6F-4968-843D-32E3B7E0256E}">
      <dsp:nvSpPr>
        <dsp:cNvPr id="0" name=""/>
        <dsp:cNvSpPr/>
      </dsp:nvSpPr>
      <dsp:spPr>
        <a:xfrm>
          <a:off x="5048105" y="1228033"/>
          <a:ext cx="1430859" cy="24592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In this study, a bank's direct marketing data collection is subjected to several visualization approaches.</a:t>
          </a:r>
        </a:p>
      </dsp:txBody>
      <dsp:txXfrm>
        <a:off x="5048105" y="1228033"/>
        <a:ext cx="1430859" cy="2459289"/>
      </dsp:txXfrm>
    </dsp:sp>
    <dsp:sp modelId="{9FFED6C3-ADD4-4252-A394-94AA285D4B32}">
      <dsp:nvSpPr>
        <dsp:cNvPr id="0" name=""/>
        <dsp:cNvSpPr/>
      </dsp:nvSpPr>
      <dsp:spPr>
        <a:xfrm>
          <a:off x="7008383" y="83346"/>
          <a:ext cx="872824" cy="87282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8901B8F-818F-44EA-AEF8-FEF3DA9BD328}">
      <dsp:nvSpPr>
        <dsp:cNvPr id="0" name=""/>
        <dsp:cNvSpPr/>
      </dsp:nvSpPr>
      <dsp:spPr>
        <a:xfrm>
          <a:off x="7194394" y="269358"/>
          <a:ext cx="500800" cy="5008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08C5092-EFA8-4D00-A58B-CFD6E9590D0E}">
      <dsp:nvSpPr>
        <dsp:cNvPr id="0" name=""/>
        <dsp:cNvSpPr/>
      </dsp:nvSpPr>
      <dsp:spPr>
        <a:xfrm>
          <a:off x="6729365" y="1228033"/>
          <a:ext cx="1430859" cy="24592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dirty="0"/>
            <a:t>The data set that was downloaded from the website of the UCI machine learning repository is unbalanced. As a result, several oversampling techniques are employed to improve the predictability of a client's subscription to a term deposit. The effectiveness of the visualization is evaluated by examining the impact of various classifier performance on oversampling strategies. </a:t>
          </a:r>
        </a:p>
      </dsp:txBody>
      <dsp:txXfrm>
        <a:off x="6729365" y="1228033"/>
        <a:ext cx="1430859" cy="2459289"/>
      </dsp:txXfrm>
    </dsp:sp>
    <dsp:sp modelId="{D35138F3-D5FE-4F35-A780-1065406BD999}">
      <dsp:nvSpPr>
        <dsp:cNvPr id="0" name=""/>
        <dsp:cNvSpPr/>
      </dsp:nvSpPr>
      <dsp:spPr>
        <a:xfrm>
          <a:off x="8689642" y="83346"/>
          <a:ext cx="872824" cy="87282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61CC442-C701-4CD2-9AB5-66AA2E5BE79C}">
      <dsp:nvSpPr>
        <dsp:cNvPr id="0" name=""/>
        <dsp:cNvSpPr/>
      </dsp:nvSpPr>
      <dsp:spPr>
        <a:xfrm>
          <a:off x="8875654" y="269358"/>
          <a:ext cx="500800" cy="500800"/>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8337EDA-451C-4D02-BDFB-0E3BD8413850}">
      <dsp:nvSpPr>
        <dsp:cNvPr id="0" name=""/>
        <dsp:cNvSpPr/>
      </dsp:nvSpPr>
      <dsp:spPr>
        <a:xfrm>
          <a:off x="8410625" y="1228033"/>
          <a:ext cx="1430859" cy="24592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With various feature engineering Technique, we be using different Ensemble Models to Predict the outcome.</a:t>
          </a:r>
        </a:p>
      </dsp:txBody>
      <dsp:txXfrm>
        <a:off x="8410625" y="1228033"/>
        <a:ext cx="1430859" cy="245928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C58231-40CC-4AC0-8842-9F55AAA57C09}">
      <dsp:nvSpPr>
        <dsp:cNvPr id="0" name=""/>
        <dsp:cNvSpPr/>
      </dsp:nvSpPr>
      <dsp:spPr>
        <a:xfrm>
          <a:off x="0" y="20146"/>
          <a:ext cx="8596668" cy="56159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kern="1200"/>
            <a:t>References:</a:t>
          </a:r>
          <a:endParaRPr lang="en-US" sz="2400" kern="1200"/>
        </a:p>
      </dsp:txBody>
      <dsp:txXfrm>
        <a:off x="27415" y="47561"/>
        <a:ext cx="8541838" cy="506769"/>
      </dsp:txXfrm>
    </dsp:sp>
    <dsp:sp modelId="{3B091728-7060-4D7F-8488-224B6CC87FF1}">
      <dsp:nvSpPr>
        <dsp:cNvPr id="0" name=""/>
        <dsp:cNvSpPr/>
      </dsp:nvSpPr>
      <dsp:spPr>
        <a:xfrm>
          <a:off x="0" y="581746"/>
          <a:ext cx="8596668" cy="3278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2944"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a:t>“Marketing analytics: Methods, practice, implementation, and links to other fields,” Expert Systems with Applications, 2018. S. L. France and S. Ghose,</a:t>
          </a:r>
        </a:p>
        <a:p>
          <a:pPr marL="171450" lvl="1" indent="-171450" algn="l" defTabSz="844550">
            <a:lnSpc>
              <a:spcPct val="90000"/>
            </a:lnSpc>
            <a:spcBef>
              <a:spcPct val="0"/>
            </a:spcBef>
            <a:spcAft>
              <a:spcPct val="20000"/>
            </a:spcAft>
            <a:buChar char="•"/>
          </a:pPr>
          <a:r>
            <a:rPr lang="en-US" sz="1900" kern="1200" dirty="0"/>
            <a:t>S. </a:t>
          </a:r>
          <a:r>
            <a:rPr lang="en-US" sz="1900" kern="1200" dirty="0" err="1"/>
            <a:t>Palaniappan</a:t>
          </a:r>
          <a:r>
            <a:rPr lang="en-US" sz="1900" kern="1200" dirty="0"/>
            <a:t>, A. Mustapha, C. F. M. </a:t>
          </a:r>
          <a:r>
            <a:rPr lang="en-US" sz="1900" kern="1200" dirty="0" err="1"/>
            <a:t>Foozy</a:t>
          </a:r>
          <a:r>
            <a:rPr lang="en-US" sz="1900" kern="1200" dirty="0"/>
            <a:t>, and R. </a:t>
          </a:r>
          <a:r>
            <a:rPr lang="en-US" sz="1900" kern="1200" dirty="0" err="1"/>
            <a:t>Atan</a:t>
          </a:r>
          <a:r>
            <a:rPr lang="en-US" sz="1900" kern="1200" dirty="0"/>
            <a:t>, “Customer profiling using classification approach for bank telemarketing,” JOIV: International Journal on Informatics Visualization, vol. 1, no. 4-2, pp. 214–217, 2017.</a:t>
          </a:r>
        </a:p>
        <a:p>
          <a:pPr marL="171450" lvl="1" indent="-171450" algn="l" defTabSz="844550">
            <a:lnSpc>
              <a:spcPct val="90000"/>
            </a:lnSpc>
            <a:spcBef>
              <a:spcPct val="0"/>
            </a:spcBef>
            <a:spcAft>
              <a:spcPct val="20000"/>
            </a:spcAft>
            <a:buChar char="•"/>
          </a:pPr>
          <a:r>
            <a:rPr lang="en-US" sz="1900" kern="1200"/>
            <a:t>Deal Banking Marketing Campaign Dataset with Machine Learning: </a:t>
          </a:r>
          <a:r>
            <a:rPr lang="en-US" sz="1900" u="sng" kern="1200">
              <a:hlinkClick xmlns:r="http://schemas.openxmlformats.org/officeDocument/2006/relationships" r:id="rId1"/>
            </a:rPr>
            <a:t>https://medium.com/@nutanbhogendrasharma/deal-banking-marketing-campaign-dataset-with-machine-learning-9c1f84ad285d</a:t>
          </a:r>
          <a:endParaRPr lang="en-US" sz="1900" kern="1200"/>
        </a:p>
        <a:p>
          <a:pPr marL="171450" lvl="1" indent="-171450" algn="l" defTabSz="844550">
            <a:lnSpc>
              <a:spcPct val="90000"/>
            </a:lnSpc>
            <a:spcBef>
              <a:spcPct val="0"/>
            </a:spcBef>
            <a:spcAft>
              <a:spcPct val="20000"/>
            </a:spcAft>
            <a:buChar char="•"/>
          </a:pPr>
          <a:r>
            <a:rPr lang="en-US" sz="1900" kern="1200"/>
            <a:t>Analysis on Bank Marketing Campaign for Portuguese Bank: </a:t>
          </a:r>
          <a:r>
            <a:rPr lang="en-US" sz="1900" u="sng" kern="1200">
              <a:hlinkClick xmlns:r="http://schemas.openxmlformats.org/officeDocument/2006/relationships" r:id="rId2"/>
            </a:rPr>
            <a:t>https://github.com/HegdeChaitra/Bank-Marketing-Campaign-Analysis</a:t>
          </a:r>
          <a:endParaRPr lang="en-US" sz="1900" kern="1200"/>
        </a:p>
      </dsp:txBody>
      <dsp:txXfrm>
        <a:off x="0" y="581746"/>
        <a:ext cx="8596668" cy="3278880"/>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A52281B-256C-4764-A291-5C80CAB20650}" type="datetimeFigureOut">
              <a:rPr lang="en-IN" smtClean="0"/>
              <a:t>12-12-2022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05D1268-8E77-4161-8987-A12BE1A6D6ED}" type="slidenum">
              <a:rPr lang="en-IN" smtClean="0"/>
              <a:t>‹#›</a:t>
            </a:fld>
            <a:endParaRPr lang="en-IN"/>
          </a:p>
        </p:txBody>
      </p:sp>
    </p:spTree>
    <p:extLst>
      <p:ext uri="{BB962C8B-B14F-4D97-AF65-F5344CB8AC3E}">
        <p14:creationId xmlns:p14="http://schemas.microsoft.com/office/powerpoint/2010/main" val="29995763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52281B-256C-4764-A291-5C80CAB20650}" type="datetimeFigureOut">
              <a:rPr lang="en-IN" smtClean="0"/>
              <a:t>12-12-2022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05D1268-8E77-4161-8987-A12BE1A6D6ED}" type="slidenum">
              <a:rPr lang="en-IN" smtClean="0"/>
              <a:t>‹#›</a:t>
            </a:fld>
            <a:endParaRPr lang="en-IN"/>
          </a:p>
        </p:txBody>
      </p:sp>
    </p:spTree>
    <p:extLst>
      <p:ext uri="{BB962C8B-B14F-4D97-AF65-F5344CB8AC3E}">
        <p14:creationId xmlns:p14="http://schemas.microsoft.com/office/powerpoint/2010/main" val="29867505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52281B-256C-4764-A291-5C80CAB20650}" type="datetimeFigureOut">
              <a:rPr lang="en-IN" smtClean="0"/>
              <a:t>12-12-2022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05D1268-8E77-4161-8987-A12BE1A6D6ED}" type="slidenum">
              <a:rPr lang="en-IN" smtClean="0"/>
              <a:t>‹#›</a:t>
            </a:fld>
            <a:endParaRPr lang="en-IN"/>
          </a:p>
        </p:txBody>
      </p:sp>
    </p:spTree>
    <p:extLst>
      <p:ext uri="{BB962C8B-B14F-4D97-AF65-F5344CB8AC3E}">
        <p14:creationId xmlns:p14="http://schemas.microsoft.com/office/powerpoint/2010/main" val="1221998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A52281B-256C-4764-A291-5C80CAB20650}" type="datetimeFigureOut">
              <a:rPr lang="en-IN" smtClean="0"/>
              <a:t>12-12-2022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05D1268-8E77-4161-8987-A12BE1A6D6ED}" type="slidenum">
              <a:rPr lang="en-IN" smtClean="0"/>
              <a:t>‹#›</a:t>
            </a:fld>
            <a:endParaRPr lang="en-IN"/>
          </a:p>
        </p:txBody>
      </p:sp>
    </p:spTree>
    <p:extLst>
      <p:ext uri="{BB962C8B-B14F-4D97-AF65-F5344CB8AC3E}">
        <p14:creationId xmlns:p14="http://schemas.microsoft.com/office/powerpoint/2010/main" val="35103798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52281B-256C-4764-A291-5C80CAB20650}" type="datetimeFigureOut">
              <a:rPr lang="en-IN" smtClean="0"/>
              <a:t>12-12-2022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05D1268-8E77-4161-8987-A12BE1A6D6ED}" type="slidenum">
              <a:rPr lang="en-IN" smtClean="0"/>
              <a:t>‹#›</a:t>
            </a:fld>
            <a:endParaRPr lang="en-IN"/>
          </a:p>
        </p:txBody>
      </p:sp>
    </p:spTree>
    <p:extLst>
      <p:ext uri="{BB962C8B-B14F-4D97-AF65-F5344CB8AC3E}">
        <p14:creationId xmlns:p14="http://schemas.microsoft.com/office/powerpoint/2010/main" val="9444253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A52281B-256C-4764-A291-5C80CAB20650}" type="datetimeFigureOut">
              <a:rPr lang="en-IN" smtClean="0"/>
              <a:t>12-12-2022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05D1268-8E77-4161-8987-A12BE1A6D6ED}" type="slidenum">
              <a:rPr lang="en-IN" smtClean="0"/>
              <a:t>‹#›</a:t>
            </a:fld>
            <a:endParaRPr lang="en-IN"/>
          </a:p>
        </p:txBody>
      </p:sp>
    </p:spTree>
    <p:extLst>
      <p:ext uri="{BB962C8B-B14F-4D97-AF65-F5344CB8AC3E}">
        <p14:creationId xmlns:p14="http://schemas.microsoft.com/office/powerpoint/2010/main" val="1887686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A52281B-256C-4764-A291-5C80CAB20650}" type="datetimeFigureOut">
              <a:rPr lang="en-IN" smtClean="0"/>
              <a:t>12-12-2022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05D1268-8E77-4161-8987-A12BE1A6D6ED}" type="slidenum">
              <a:rPr lang="en-IN" smtClean="0"/>
              <a:t>‹#›</a:t>
            </a:fld>
            <a:endParaRPr lang="en-IN"/>
          </a:p>
        </p:txBody>
      </p:sp>
    </p:spTree>
    <p:extLst>
      <p:ext uri="{BB962C8B-B14F-4D97-AF65-F5344CB8AC3E}">
        <p14:creationId xmlns:p14="http://schemas.microsoft.com/office/powerpoint/2010/main" val="3921303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A52281B-256C-4764-A291-5C80CAB20650}" type="datetimeFigureOut">
              <a:rPr lang="en-IN" smtClean="0"/>
              <a:t>12-12-2022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05D1268-8E77-4161-8987-A12BE1A6D6ED}" type="slidenum">
              <a:rPr lang="en-IN" smtClean="0"/>
              <a:t>‹#›</a:t>
            </a:fld>
            <a:endParaRPr lang="en-IN"/>
          </a:p>
        </p:txBody>
      </p:sp>
    </p:spTree>
    <p:extLst>
      <p:ext uri="{BB962C8B-B14F-4D97-AF65-F5344CB8AC3E}">
        <p14:creationId xmlns:p14="http://schemas.microsoft.com/office/powerpoint/2010/main" val="20281712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A52281B-256C-4764-A291-5C80CAB20650}" type="datetimeFigureOut">
              <a:rPr lang="en-IN" smtClean="0"/>
              <a:t>12-12-2022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05D1268-8E77-4161-8987-A12BE1A6D6ED}" type="slidenum">
              <a:rPr lang="en-IN" smtClean="0"/>
              <a:t>‹#›</a:t>
            </a:fld>
            <a:endParaRPr lang="en-IN"/>
          </a:p>
        </p:txBody>
      </p:sp>
    </p:spTree>
    <p:extLst>
      <p:ext uri="{BB962C8B-B14F-4D97-AF65-F5344CB8AC3E}">
        <p14:creationId xmlns:p14="http://schemas.microsoft.com/office/powerpoint/2010/main" val="20036164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52281B-256C-4764-A291-5C80CAB20650}" type="datetimeFigureOut">
              <a:rPr lang="en-IN" smtClean="0"/>
              <a:t>12-12-2022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05D1268-8E77-4161-8987-A12BE1A6D6ED}" type="slidenum">
              <a:rPr lang="en-IN" smtClean="0"/>
              <a:t>‹#›</a:t>
            </a:fld>
            <a:endParaRPr lang="en-IN"/>
          </a:p>
        </p:txBody>
      </p:sp>
    </p:spTree>
    <p:extLst>
      <p:ext uri="{BB962C8B-B14F-4D97-AF65-F5344CB8AC3E}">
        <p14:creationId xmlns:p14="http://schemas.microsoft.com/office/powerpoint/2010/main" val="1806911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52281B-256C-4764-A291-5C80CAB20650}" type="datetimeFigureOut">
              <a:rPr lang="en-IN" smtClean="0"/>
              <a:t>12-12-2022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05D1268-8E77-4161-8987-A12BE1A6D6ED}"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6166957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52281B-256C-4764-A291-5C80CAB20650}" type="datetimeFigureOut">
              <a:rPr lang="en-IN" smtClean="0"/>
              <a:t>12-12-2022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05D1268-8E77-4161-8987-A12BE1A6D6ED}" type="slidenum">
              <a:rPr lang="en-IN" smtClean="0"/>
              <a:t>‹#›</a:t>
            </a:fld>
            <a:endParaRPr lang="en-IN"/>
          </a:p>
        </p:txBody>
      </p:sp>
    </p:spTree>
    <p:extLst>
      <p:ext uri="{BB962C8B-B14F-4D97-AF65-F5344CB8AC3E}">
        <p14:creationId xmlns:p14="http://schemas.microsoft.com/office/powerpoint/2010/main" val="34012659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52281B-256C-4764-A291-5C80CAB20650}" type="datetimeFigureOut">
              <a:rPr lang="en-IN" smtClean="0"/>
              <a:t>12-12-2022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05D1268-8E77-4161-8987-A12BE1A6D6ED}"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6391995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52281B-256C-4764-A291-5C80CAB20650}" type="datetimeFigureOut">
              <a:rPr lang="en-IN" smtClean="0"/>
              <a:t>12-12-2022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05D1268-8E77-4161-8987-A12BE1A6D6ED}" type="slidenum">
              <a:rPr lang="en-IN" smtClean="0"/>
              <a:t>‹#›</a:t>
            </a:fld>
            <a:endParaRPr lang="en-IN"/>
          </a:p>
        </p:txBody>
      </p:sp>
    </p:spTree>
    <p:extLst>
      <p:ext uri="{BB962C8B-B14F-4D97-AF65-F5344CB8AC3E}">
        <p14:creationId xmlns:p14="http://schemas.microsoft.com/office/powerpoint/2010/main" val="41602449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52281B-256C-4764-A291-5C80CAB20650}" type="datetimeFigureOut">
              <a:rPr lang="en-IN" smtClean="0"/>
              <a:t>12-12-2022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05D1268-8E77-4161-8987-A12BE1A6D6ED}" type="slidenum">
              <a:rPr lang="en-IN" smtClean="0"/>
              <a:t>‹#›</a:t>
            </a:fld>
            <a:endParaRPr lang="en-IN"/>
          </a:p>
        </p:txBody>
      </p:sp>
    </p:spTree>
    <p:extLst>
      <p:ext uri="{BB962C8B-B14F-4D97-AF65-F5344CB8AC3E}">
        <p14:creationId xmlns:p14="http://schemas.microsoft.com/office/powerpoint/2010/main" val="4063910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52281B-256C-4764-A291-5C80CAB20650}" type="datetimeFigureOut">
              <a:rPr lang="en-IN" smtClean="0"/>
              <a:t>12-12-2022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05D1268-8E77-4161-8987-A12BE1A6D6ED}" type="slidenum">
              <a:rPr lang="en-IN" smtClean="0"/>
              <a:t>‹#›</a:t>
            </a:fld>
            <a:endParaRPr lang="en-IN"/>
          </a:p>
        </p:txBody>
      </p:sp>
    </p:spTree>
    <p:extLst>
      <p:ext uri="{BB962C8B-B14F-4D97-AF65-F5344CB8AC3E}">
        <p14:creationId xmlns:p14="http://schemas.microsoft.com/office/powerpoint/2010/main" val="23452078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A52281B-256C-4764-A291-5C80CAB20650}" type="datetimeFigureOut">
              <a:rPr lang="en-IN" smtClean="0"/>
              <a:t>12-12-2022</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405D1268-8E77-4161-8987-A12BE1A6D6ED}" type="slidenum">
              <a:rPr lang="en-IN" smtClean="0"/>
              <a:t>‹#›</a:t>
            </a:fld>
            <a:endParaRPr lang="en-IN"/>
          </a:p>
        </p:txBody>
      </p:sp>
    </p:spTree>
    <p:extLst>
      <p:ext uri="{BB962C8B-B14F-4D97-AF65-F5344CB8AC3E}">
        <p14:creationId xmlns:p14="http://schemas.microsoft.com/office/powerpoint/2010/main" val="7799655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archive.ics.uci.edu/ml/datasets/Bank+Marketing" TargetMode="Externa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B661C-6B0D-4A37-9338-90B560A4D39F}"/>
              </a:ext>
            </a:extLst>
          </p:cNvPr>
          <p:cNvSpPr>
            <a:spLocks noGrp="1"/>
          </p:cNvSpPr>
          <p:nvPr>
            <p:ph type="ctrTitle"/>
          </p:nvPr>
        </p:nvSpPr>
        <p:spPr>
          <a:xfrm>
            <a:off x="1261260" y="280767"/>
            <a:ext cx="7766936" cy="1646302"/>
          </a:xfrm>
        </p:spPr>
        <p:txBody>
          <a:bodyPr/>
          <a:lstStyle/>
          <a:p>
            <a:pPr marL="0" marR="0" algn="ctr">
              <a:lnSpc>
                <a:spcPct val="107000"/>
              </a:lnSpc>
              <a:spcBef>
                <a:spcPts val="1200"/>
              </a:spcBef>
              <a:spcAft>
                <a:spcPts val="0"/>
              </a:spcAft>
            </a:pPr>
            <a:r>
              <a:rPr lang="en-IN" sz="3200" b="1" u="sng" kern="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Bank Marketing: To Predict if the client will Subscribe for Term Deposit</a:t>
            </a:r>
            <a:endParaRPr lang="en-US" sz="3200" b="1" kern="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6EA930D-41A3-520D-FF1F-D31CFB20BFA8}"/>
              </a:ext>
            </a:extLst>
          </p:cNvPr>
          <p:cNvSpPr txBox="1">
            <a:spLocks/>
          </p:cNvSpPr>
          <p:nvPr/>
        </p:nvSpPr>
        <p:spPr>
          <a:xfrm>
            <a:off x="846394" y="3074991"/>
            <a:ext cx="8596668" cy="1855942"/>
          </a:xfrm>
          <a:prstGeom prst="rect">
            <a:avLst/>
          </a:prstGeom>
        </p:spPr>
        <p:txBody>
          <a:bodyPr vert="horz" lIns="91440" tIns="45720" rIns="91440" bIns="45720" rtlCol="0" anchor="t">
            <a:normAutofit/>
          </a:bodyPr>
          <a:lstStyle>
            <a:lvl1pPr marL="0" indent="0" algn="r" defTabSz="457200"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algn="ctr">
              <a:lnSpc>
                <a:spcPct val="107000"/>
              </a:lnSpc>
              <a:spcBef>
                <a:spcPts val="0"/>
              </a:spcBef>
              <a:spcAft>
                <a:spcPts val="800"/>
              </a:spcAft>
            </a:pPr>
            <a:r>
              <a:rPr lang="en-IN" sz="2400" b="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Problem Statement</a:t>
            </a:r>
            <a:r>
              <a:rPr lang="en-IN" sz="24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 </a:t>
            </a:r>
          </a:p>
          <a:p>
            <a:pPr algn="ctr">
              <a:lnSpc>
                <a:spcPct val="107000"/>
              </a:lnSpc>
              <a:spcBef>
                <a:spcPts val="0"/>
              </a:spcBef>
              <a:spcAft>
                <a:spcPts val="800"/>
              </a:spcAft>
            </a:pPr>
            <a:r>
              <a:rPr lang="en-IN" sz="24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Based on the census, personal details, financial details and other marketing campaign, predict if the customer will Subscribe for Term Deposit.</a:t>
            </a:r>
            <a:endParaRPr lang="en-US" sz="2400" dirty="0">
              <a:solidFill>
                <a:schemeClr val="accent1"/>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14362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2">
            <a:extLst>
              <a:ext uri="{FF2B5EF4-FFF2-40B4-BE49-F238E27FC236}">
                <a16:creationId xmlns:a16="http://schemas.microsoft.com/office/drawing/2014/main" id="{34EE172C-D794-CA77-8308-719DAC518BAB}"/>
              </a:ext>
            </a:extLst>
          </p:cNvPr>
          <p:cNvGraphicFramePr/>
          <p:nvPr>
            <p:extLst>
              <p:ext uri="{D42A27DB-BD31-4B8C-83A1-F6EECF244321}">
                <p14:modId xmlns:p14="http://schemas.microsoft.com/office/powerpoint/2010/main" val="1122027484"/>
              </p:ext>
            </p:extLst>
          </p:nvPr>
        </p:nvGraphicFramePr>
        <p:xfrm>
          <a:off x="854614" y="1230339"/>
          <a:ext cx="9845811" cy="37706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41022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CCDC3-8DA7-4E58-AF8F-08A3AF18EB3B}"/>
              </a:ext>
            </a:extLst>
          </p:cNvPr>
          <p:cNvSpPr>
            <a:spLocks noGrp="1"/>
          </p:cNvSpPr>
          <p:nvPr>
            <p:ph type="title"/>
          </p:nvPr>
        </p:nvSpPr>
        <p:spPr/>
        <p:txBody>
          <a:bodyPr/>
          <a:lstStyle/>
          <a:p>
            <a:r>
              <a:rPr lang="en-IN" dirty="0"/>
              <a:t>About Dataset</a:t>
            </a:r>
          </a:p>
        </p:txBody>
      </p:sp>
      <p:sp>
        <p:nvSpPr>
          <p:cNvPr id="3" name="Content Placeholder 2">
            <a:extLst>
              <a:ext uri="{FF2B5EF4-FFF2-40B4-BE49-F238E27FC236}">
                <a16:creationId xmlns:a16="http://schemas.microsoft.com/office/drawing/2014/main" id="{D9C284D7-3093-43A4-B9A2-E8A83D656D69}"/>
              </a:ext>
            </a:extLst>
          </p:cNvPr>
          <p:cNvSpPr>
            <a:spLocks noGrp="1"/>
          </p:cNvSpPr>
          <p:nvPr>
            <p:ph idx="1"/>
          </p:nvPr>
        </p:nvSpPr>
        <p:spPr>
          <a:xfrm>
            <a:off x="677334" y="1752625"/>
            <a:ext cx="6703180" cy="3276575"/>
          </a:xfrm>
        </p:spPr>
        <p:txBody>
          <a:bodyPr>
            <a:normAutofit lnSpcReduction="10000"/>
          </a:bodyPr>
          <a:lstStyle/>
          <a:p>
            <a:r>
              <a:rPr lang="en-IN" sz="1800" dirty="0">
                <a:effectLst/>
                <a:latin typeface="Calibri" panose="020F0502020204030204" pitchFamily="34" charset="0"/>
                <a:ea typeface="Times New Roman" panose="02020603050405020304" pitchFamily="18" charset="0"/>
              </a:rPr>
              <a:t>The data is related with direct marketing campaigns (phone calls) of a Portuguese banking institution. </a:t>
            </a:r>
            <a:r>
              <a:rPr lang="en-IN" sz="1800" b="1" dirty="0">
                <a:effectLst/>
                <a:latin typeface="Calibri" panose="020F0502020204030204" pitchFamily="34" charset="0"/>
                <a:ea typeface="Times New Roman" panose="02020603050405020304" pitchFamily="18" charset="0"/>
              </a:rPr>
              <a:t>The classification goal is to predict if the client will subscribe a term deposit (variable y).</a:t>
            </a:r>
            <a:endParaRPr lang="en-IN" sz="1800" b="1" dirty="0">
              <a:effectLst/>
              <a:latin typeface="Times New Roman" panose="02020603050405020304" pitchFamily="18" charset="0"/>
              <a:ea typeface="Times New Roman" panose="02020603050405020304" pitchFamily="18" charset="0"/>
            </a:endParaRPr>
          </a:p>
          <a:p>
            <a:pPr marL="457200" algn="just"/>
            <a:r>
              <a:rPr lang="en-IN" sz="1800" dirty="0">
                <a:effectLst/>
                <a:latin typeface="Calibri" panose="020F0502020204030204" pitchFamily="34" charset="0"/>
                <a:ea typeface="Calibri" panose="020F0502020204030204" pitchFamily="34" charset="0"/>
                <a:cs typeface="Times New Roman" panose="02020603050405020304" pitchFamily="18" charset="0"/>
              </a:rPr>
              <a:t>The data is related with direct marketing campaigns of a Portuguese banking institution. The marketing campaigns were based on phone calls. Often, more than one contact to the same client was required, in order to access if the product (bank term deposit) would be ('yes') or not ('no') subscribed. </a:t>
            </a:r>
          </a:p>
          <a:p>
            <a:pPr marL="114300" indent="0" algn="just">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algn="just"/>
            <a:r>
              <a:rPr lang="en-IN" sz="1800" b="1" dirty="0">
                <a:effectLst/>
                <a:latin typeface="Calibri" panose="020F0502020204030204" pitchFamily="34" charset="0"/>
                <a:ea typeface="Calibri" panose="020F0502020204030204" pitchFamily="34" charset="0"/>
                <a:cs typeface="Times New Roman" panose="02020603050405020304" pitchFamily="18" charset="0"/>
              </a:rPr>
              <a:t>Data consists of 21 features and 41189 entries including personal and professional information of the Client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5" name="TextBox 4">
            <a:extLst>
              <a:ext uri="{FF2B5EF4-FFF2-40B4-BE49-F238E27FC236}">
                <a16:creationId xmlns:a16="http://schemas.microsoft.com/office/drawing/2014/main" id="{D863D44F-D8BB-1DA4-F47C-25FD80ED5790}"/>
              </a:ext>
            </a:extLst>
          </p:cNvPr>
          <p:cNvSpPr txBox="1"/>
          <p:nvPr/>
        </p:nvSpPr>
        <p:spPr>
          <a:xfrm>
            <a:off x="789039" y="5297440"/>
            <a:ext cx="7548716" cy="375552"/>
          </a:xfrm>
          <a:prstGeom prst="rect">
            <a:avLst/>
          </a:prstGeom>
          <a:noFill/>
        </p:spPr>
        <p:txBody>
          <a:bodyPr wrap="square">
            <a:spAutoFit/>
          </a:bodyPr>
          <a:lstStyle/>
          <a:p>
            <a:pPr marL="342900" marR="0" lvl="0" indent="-342900">
              <a:lnSpc>
                <a:spcPct val="107000"/>
              </a:lnSpc>
              <a:spcBef>
                <a:spcPts val="0"/>
              </a:spcBef>
              <a:spcAft>
                <a:spcPts val="800"/>
              </a:spcAft>
              <a:buFont typeface="Wingdings 3" panose="05040102010807070707" pitchFamily="18" charset="2"/>
              <a:buChar char=""/>
              <a:tabLst>
                <a:tab pos="457200" algn="l"/>
              </a:tabLst>
            </a:pPr>
            <a:r>
              <a:rPr lang="en-IN" sz="1800" b="1" dirty="0">
                <a:effectLst/>
                <a:latin typeface="Calibri" panose="020F0502020204030204" pitchFamily="34" charset="0"/>
                <a:ea typeface="Calibri" panose="020F0502020204030204" pitchFamily="34" charset="0"/>
                <a:cs typeface="Times New Roman" panose="02020603050405020304" pitchFamily="18" charset="0"/>
              </a:rPr>
              <a:t>Dataset Link</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2"/>
              </a:rPr>
              <a:t>http://archive.ics.uci.edu/ml/datasets/Bank+Marketing#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1580E184-C0B9-16A1-E1BB-727327CEA0B7}"/>
              </a:ext>
            </a:extLst>
          </p:cNvPr>
          <p:cNvPicPr>
            <a:picLocks noChangeAspect="1"/>
          </p:cNvPicPr>
          <p:nvPr/>
        </p:nvPicPr>
        <p:blipFill>
          <a:blip r:embed="rId3"/>
          <a:stretch>
            <a:fillRect/>
          </a:stretch>
        </p:blipFill>
        <p:spPr>
          <a:xfrm>
            <a:off x="8267901" y="142817"/>
            <a:ext cx="2981843" cy="3471103"/>
          </a:xfrm>
          <a:prstGeom prst="rect">
            <a:avLst/>
          </a:prstGeom>
        </p:spPr>
      </p:pic>
      <p:pic>
        <p:nvPicPr>
          <p:cNvPr id="6" name="Picture 5">
            <a:extLst>
              <a:ext uri="{FF2B5EF4-FFF2-40B4-BE49-F238E27FC236}">
                <a16:creationId xmlns:a16="http://schemas.microsoft.com/office/drawing/2014/main" id="{75839F5F-827A-ABD4-C8FC-1CF9A7763458}"/>
              </a:ext>
            </a:extLst>
          </p:cNvPr>
          <p:cNvPicPr>
            <a:picLocks noChangeAspect="1"/>
          </p:cNvPicPr>
          <p:nvPr/>
        </p:nvPicPr>
        <p:blipFill>
          <a:blip r:embed="rId4"/>
          <a:stretch>
            <a:fillRect/>
          </a:stretch>
        </p:blipFill>
        <p:spPr>
          <a:xfrm>
            <a:off x="8337755" y="3705791"/>
            <a:ext cx="2838846" cy="2915057"/>
          </a:xfrm>
          <a:prstGeom prst="rect">
            <a:avLst/>
          </a:prstGeom>
        </p:spPr>
      </p:pic>
    </p:spTree>
    <p:extLst>
      <p:ext uri="{BB962C8B-B14F-4D97-AF65-F5344CB8AC3E}">
        <p14:creationId xmlns:p14="http://schemas.microsoft.com/office/powerpoint/2010/main" val="11095498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F6825970-8066-0C25-6D54-72613F34279A}"/>
              </a:ext>
            </a:extLst>
          </p:cNvPr>
          <p:cNvSpPr>
            <a:spLocks noChangeArrowheads="1"/>
          </p:cNvSpPr>
          <p:nvPr/>
        </p:nvSpPr>
        <p:spPr bwMode="auto">
          <a:xfrm>
            <a:off x="955610" y="471758"/>
            <a:ext cx="9073293" cy="23160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Architecture and Technology</a:t>
            </a:r>
            <a:endParaRPr kumimoji="0" lang="en-US" altLang="en-US" sz="1400" b="0" i="0" u="none" strike="noStrike" cap="none" normalizeH="0" baseline="0" dirty="0">
              <a:ln>
                <a:noFill/>
              </a:ln>
              <a:solidFill>
                <a:schemeClr val="tx1"/>
              </a:solidFill>
              <a:effectLst/>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We use Python for Data Processing and Modelling and </a:t>
            </a:r>
            <a:endParaRPr kumimoji="0" lang="en-US" altLang="en-US" sz="1050" b="0" i="0" u="none" strike="noStrike" cap="none" normalizeH="0" baseline="0" dirty="0">
              <a:ln>
                <a:noFill/>
              </a:ln>
              <a:solidFill>
                <a:schemeClr val="tx1"/>
              </a:solidFill>
              <a:effectLst/>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The system OS we have used is Linux.</a:t>
            </a:r>
          </a:p>
          <a:p>
            <a:pPr marL="171450" indent="-171450" defTabSz="914400">
              <a:buFont typeface="Arial" panose="020B0604020202020204" pitchFamily="34" charset="0"/>
              <a:buChar char="•"/>
            </a:pPr>
            <a:r>
              <a:rPr lang="en-US" altLang="en-US" dirty="0">
                <a:latin typeface="Calibri" panose="020F0502020204030204" pitchFamily="34" charset="0"/>
                <a:ea typeface="Calibri" panose="020F0502020204030204" pitchFamily="34" charset="0"/>
                <a:cs typeface="Times New Roman" panose="02020603050405020304" pitchFamily="18" charset="0"/>
              </a:rPr>
              <a:t>Environment on </a:t>
            </a:r>
            <a:r>
              <a:rPr lang="en-US" altLang="en-US" dirty="0" err="1">
                <a:latin typeface="Calibri" panose="020F0502020204030204" pitchFamily="34" charset="0"/>
                <a:ea typeface="Calibri" panose="020F0502020204030204" pitchFamily="34" charset="0"/>
                <a:cs typeface="Times New Roman" panose="02020603050405020304" pitchFamily="18" charset="0"/>
              </a:rPr>
              <a:t>Colab</a:t>
            </a:r>
            <a:r>
              <a:rPr lang="en-US" altLang="en-US" dirty="0">
                <a:latin typeface="Calibri" panose="020F0502020204030204" pitchFamily="34" charset="0"/>
                <a:ea typeface="Calibri" panose="020F0502020204030204" pitchFamily="34" charset="0"/>
                <a:cs typeface="Times New Roman" panose="02020603050405020304" pitchFamily="18" charset="0"/>
              </a:rPr>
              <a:t> Notebook.</a:t>
            </a:r>
          </a:p>
          <a:p>
            <a:pPr marL="171450" indent="-171450" defTabSz="914400">
              <a:buFont typeface="Arial" panose="020B0604020202020204" pitchFamily="34" charset="0"/>
              <a:buChar char="•"/>
            </a:pPr>
            <a:r>
              <a:rPr lang="en-US" altLang="en-US" dirty="0">
                <a:latin typeface="Calibri" panose="020F0502020204030204" pitchFamily="34" charset="0"/>
                <a:ea typeface="Calibri" panose="020F0502020204030204" pitchFamily="34" charset="0"/>
                <a:cs typeface="Times New Roman" panose="02020603050405020304" pitchFamily="18" charset="0"/>
              </a:rPr>
              <a:t>User → Google Linux Server → Google Storage Bucket → Processing on Google Server.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endParaRPr kumimoji="0" lang="en-US" altLang="en-US" sz="105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3">
            <a:extLst>
              <a:ext uri="{FF2B5EF4-FFF2-40B4-BE49-F238E27FC236}">
                <a16:creationId xmlns:a16="http://schemas.microsoft.com/office/drawing/2014/main" id="{8604A9F8-5143-30DF-8A83-B823CD07524F}"/>
              </a:ext>
            </a:extLst>
          </p:cNvPr>
          <p:cNvSpPr>
            <a:spLocks noChangeArrowheads="1"/>
          </p:cNvSpPr>
          <p:nvPr/>
        </p:nvSpPr>
        <p:spPr bwMode="auto">
          <a:xfrm>
            <a:off x="1858297" y="316107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25" name="Picture 1" descr="Colaboratory + Drive + Github -&gt; the workflow made simpler">
            <a:extLst>
              <a:ext uri="{FF2B5EF4-FFF2-40B4-BE49-F238E27FC236}">
                <a16:creationId xmlns:a16="http://schemas.microsoft.com/office/drawing/2014/main" id="{B4836CCB-F48C-9448-CFFD-9D038C7E58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9521" y="2614422"/>
            <a:ext cx="3331906" cy="251924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D45C116A-4E13-ABA0-5250-DCCA190AD823}"/>
              </a:ext>
            </a:extLst>
          </p:cNvPr>
          <p:cNvSpPr>
            <a:spLocks noChangeArrowheads="1"/>
          </p:cNvSpPr>
          <p:nvPr/>
        </p:nvSpPr>
        <p:spPr bwMode="auto">
          <a:xfrm>
            <a:off x="955610" y="50673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317093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4" name="Rectangle 13">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20"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33425"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72758"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Freeform: Shape 29">
            <a:extLst>
              <a:ext uri="{FF2B5EF4-FFF2-40B4-BE49-F238E27FC236}">
                <a16:creationId xmlns:a16="http://schemas.microsoft.com/office/drawing/2014/main" id="{A5EC319D-0FEA-4B95-A3EA-01E35672C9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TextBox 4">
            <a:extLst>
              <a:ext uri="{FF2B5EF4-FFF2-40B4-BE49-F238E27FC236}">
                <a16:creationId xmlns:a16="http://schemas.microsoft.com/office/drawing/2014/main" id="{B27F83D4-2C98-4199-AC70-EDF6971602FB}"/>
              </a:ext>
            </a:extLst>
          </p:cNvPr>
          <p:cNvSpPr txBox="1"/>
          <p:nvPr/>
        </p:nvSpPr>
        <p:spPr>
          <a:xfrm>
            <a:off x="7181723" y="609600"/>
            <a:ext cx="4512989" cy="2227730"/>
          </a:xfrm>
          <a:prstGeom prst="rect">
            <a:avLst/>
          </a:prstGeom>
        </p:spPr>
        <p:txBody>
          <a:bodyPr vert="horz" lIns="91440" tIns="45720" rIns="91440" bIns="45720" rtlCol="0" anchor="ctr">
            <a:normAutofit/>
          </a:bodyPr>
          <a:lstStyle/>
          <a:p>
            <a:pPr>
              <a:spcBef>
                <a:spcPct val="0"/>
              </a:spcBef>
              <a:spcAft>
                <a:spcPts val="600"/>
              </a:spcAft>
            </a:pPr>
            <a:r>
              <a:rPr lang="en-US" sz="3600">
                <a:solidFill>
                  <a:srgbClr val="FFFFFF"/>
                </a:solidFill>
                <a:latin typeface="+mj-lt"/>
                <a:ea typeface="+mj-ea"/>
                <a:cs typeface="+mj-cs"/>
              </a:rPr>
              <a:t>Steps Performed:</a:t>
            </a:r>
          </a:p>
        </p:txBody>
      </p:sp>
      <p:pic>
        <p:nvPicPr>
          <p:cNvPr id="2" name="Picture 1" descr="Graphical user interface&#10;&#10;Description automatically generated">
            <a:extLst>
              <a:ext uri="{FF2B5EF4-FFF2-40B4-BE49-F238E27FC236}">
                <a16:creationId xmlns:a16="http://schemas.microsoft.com/office/drawing/2014/main" id="{3C179C7F-EB81-A3DC-ED36-AFE8F419F7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7251" y="1964487"/>
            <a:ext cx="3856774" cy="3017925"/>
          </a:xfrm>
          <a:prstGeom prst="rect">
            <a:avLst/>
          </a:prstGeom>
        </p:spPr>
      </p:pic>
      <p:sp>
        <p:nvSpPr>
          <p:cNvPr id="7" name="TextBox 6">
            <a:extLst>
              <a:ext uri="{FF2B5EF4-FFF2-40B4-BE49-F238E27FC236}">
                <a16:creationId xmlns:a16="http://schemas.microsoft.com/office/drawing/2014/main" id="{0FD4691A-55C4-43E2-8C17-8254D4AFA9D4}"/>
              </a:ext>
            </a:extLst>
          </p:cNvPr>
          <p:cNvSpPr txBox="1"/>
          <p:nvPr/>
        </p:nvSpPr>
        <p:spPr>
          <a:xfrm>
            <a:off x="7181725" y="2837329"/>
            <a:ext cx="4512988" cy="3317938"/>
          </a:xfrm>
          <a:prstGeom prst="rect">
            <a:avLst/>
          </a:prstGeom>
        </p:spPr>
        <p:txBody>
          <a:bodyPr vert="horz" lIns="91440" tIns="45720" rIns="91440" bIns="45720" rtlCol="0" anchor="t">
            <a:normAutofit/>
          </a:bodyPr>
          <a:lstStyle/>
          <a:p>
            <a:pPr marL="285750" indent="-285750">
              <a:lnSpc>
                <a:spcPct val="90000"/>
              </a:lnSpc>
              <a:spcBef>
                <a:spcPts val="1000"/>
              </a:spcBef>
              <a:buClr>
                <a:schemeClr val="accent1"/>
              </a:buClr>
              <a:buSzPct val="80000"/>
              <a:buFont typeface="Wingdings 3" charset="2"/>
              <a:buChar char=""/>
            </a:pPr>
            <a:r>
              <a:rPr lang="en-US" sz="1100">
                <a:solidFill>
                  <a:srgbClr val="FFFFFF"/>
                </a:solidFill>
              </a:rPr>
              <a:t>Downloading and Setting up PySpark in COLAB</a:t>
            </a:r>
          </a:p>
          <a:p>
            <a:pPr marL="285750" indent="-285750">
              <a:lnSpc>
                <a:spcPct val="90000"/>
              </a:lnSpc>
              <a:spcBef>
                <a:spcPts val="1000"/>
              </a:spcBef>
              <a:buClr>
                <a:schemeClr val="accent1"/>
              </a:buClr>
              <a:buSzPct val="80000"/>
              <a:buFont typeface="Wingdings 3" charset="2"/>
              <a:buChar char=""/>
            </a:pPr>
            <a:endParaRPr lang="en-US" sz="1100">
              <a:solidFill>
                <a:srgbClr val="FFFFFF"/>
              </a:solidFill>
            </a:endParaRPr>
          </a:p>
          <a:p>
            <a:pPr marL="285750" indent="-285750">
              <a:lnSpc>
                <a:spcPct val="90000"/>
              </a:lnSpc>
              <a:spcBef>
                <a:spcPts val="1000"/>
              </a:spcBef>
              <a:buClr>
                <a:schemeClr val="accent1"/>
              </a:buClr>
              <a:buSzPct val="80000"/>
              <a:buFont typeface="Wingdings 3" charset="2"/>
              <a:buChar char=""/>
            </a:pPr>
            <a:r>
              <a:rPr lang="en-US" sz="1100">
                <a:solidFill>
                  <a:srgbClr val="FFFFFF"/>
                </a:solidFill>
              </a:rPr>
              <a:t>Loading Data</a:t>
            </a:r>
          </a:p>
          <a:p>
            <a:pPr marL="285750" indent="-285750">
              <a:lnSpc>
                <a:spcPct val="90000"/>
              </a:lnSpc>
              <a:spcBef>
                <a:spcPts val="1000"/>
              </a:spcBef>
              <a:buClr>
                <a:schemeClr val="accent1"/>
              </a:buClr>
              <a:buSzPct val="80000"/>
              <a:buFont typeface="Wingdings 3" charset="2"/>
              <a:buChar char=""/>
            </a:pPr>
            <a:endParaRPr lang="en-US" sz="1100">
              <a:solidFill>
                <a:srgbClr val="FFFFFF"/>
              </a:solidFill>
            </a:endParaRPr>
          </a:p>
          <a:p>
            <a:pPr marL="285750" indent="-285750">
              <a:lnSpc>
                <a:spcPct val="90000"/>
              </a:lnSpc>
              <a:spcBef>
                <a:spcPts val="1000"/>
              </a:spcBef>
              <a:buClr>
                <a:schemeClr val="accent1"/>
              </a:buClr>
              <a:buSzPct val="80000"/>
              <a:buFont typeface="Wingdings 3" charset="2"/>
              <a:buChar char=""/>
            </a:pPr>
            <a:r>
              <a:rPr lang="en-US" sz="1100">
                <a:solidFill>
                  <a:srgbClr val="FFFFFF"/>
                </a:solidFill>
              </a:rPr>
              <a:t>Short visualization on data</a:t>
            </a:r>
          </a:p>
          <a:p>
            <a:pPr marL="285750" indent="-285750">
              <a:lnSpc>
                <a:spcPct val="90000"/>
              </a:lnSpc>
              <a:spcBef>
                <a:spcPts val="1000"/>
              </a:spcBef>
              <a:buClr>
                <a:schemeClr val="accent1"/>
              </a:buClr>
              <a:buSzPct val="80000"/>
              <a:buFont typeface="Wingdings 3" charset="2"/>
              <a:buChar char=""/>
            </a:pPr>
            <a:endParaRPr lang="en-US" sz="1100">
              <a:solidFill>
                <a:srgbClr val="FFFFFF"/>
              </a:solidFill>
            </a:endParaRPr>
          </a:p>
          <a:p>
            <a:pPr marL="285750" indent="-285750">
              <a:lnSpc>
                <a:spcPct val="90000"/>
              </a:lnSpc>
              <a:spcBef>
                <a:spcPts val="1000"/>
              </a:spcBef>
              <a:buClr>
                <a:schemeClr val="accent1"/>
              </a:buClr>
              <a:buSzPct val="80000"/>
              <a:buFont typeface="Wingdings 3" charset="2"/>
              <a:buChar char=""/>
            </a:pPr>
            <a:r>
              <a:rPr lang="en-US" sz="1100">
                <a:solidFill>
                  <a:srgbClr val="FFFFFF"/>
                </a:solidFill>
              </a:rPr>
              <a:t>Preparing dataset for training</a:t>
            </a:r>
          </a:p>
          <a:p>
            <a:pPr marL="285750" indent="-285750">
              <a:lnSpc>
                <a:spcPct val="90000"/>
              </a:lnSpc>
              <a:spcBef>
                <a:spcPts val="1000"/>
              </a:spcBef>
              <a:buClr>
                <a:schemeClr val="accent1"/>
              </a:buClr>
              <a:buSzPct val="80000"/>
              <a:buFont typeface="Wingdings 3" charset="2"/>
              <a:buChar char=""/>
            </a:pPr>
            <a:endParaRPr lang="en-US" sz="1100">
              <a:solidFill>
                <a:srgbClr val="FFFFFF"/>
              </a:solidFill>
            </a:endParaRPr>
          </a:p>
          <a:p>
            <a:pPr marL="285750" indent="-285750">
              <a:lnSpc>
                <a:spcPct val="90000"/>
              </a:lnSpc>
              <a:spcBef>
                <a:spcPts val="1000"/>
              </a:spcBef>
              <a:buClr>
                <a:schemeClr val="accent1"/>
              </a:buClr>
              <a:buSzPct val="80000"/>
              <a:buFont typeface="Wingdings 3" charset="2"/>
              <a:buChar char=""/>
            </a:pPr>
            <a:r>
              <a:rPr lang="en-US" sz="1100">
                <a:solidFill>
                  <a:srgbClr val="FFFFFF"/>
                </a:solidFill>
              </a:rPr>
              <a:t>Building Machine Learning Models</a:t>
            </a:r>
          </a:p>
          <a:p>
            <a:pPr marL="285750" indent="-285750">
              <a:lnSpc>
                <a:spcPct val="90000"/>
              </a:lnSpc>
              <a:spcBef>
                <a:spcPts val="1000"/>
              </a:spcBef>
              <a:buClr>
                <a:schemeClr val="accent1"/>
              </a:buClr>
              <a:buSzPct val="80000"/>
              <a:buFont typeface="Wingdings 3" charset="2"/>
              <a:buChar char=""/>
            </a:pPr>
            <a:endParaRPr lang="en-US" sz="1100">
              <a:solidFill>
                <a:srgbClr val="FFFFFF"/>
              </a:solidFill>
            </a:endParaRPr>
          </a:p>
          <a:p>
            <a:pPr marL="285750" indent="-285750">
              <a:lnSpc>
                <a:spcPct val="90000"/>
              </a:lnSpc>
              <a:spcBef>
                <a:spcPts val="1000"/>
              </a:spcBef>
              <a:buClr>
                <a:schemeClr val="accent1"/>
              </a:buClr>
              <a:buSzPct val="80000"/>
              <a:buFont typeface="Wingdings 3" charset="2"/>
              <a:buChar char=""/>
            </a:pPr>
            <a:r>
              <a:rPr lang="en-US" sz="1100">
                <a:solidFill>
                  <a:srgbClr val="FFFFFF"/>
                </a:solidFill>
              </a:rPr>
              <a:t>Validation for comparison of different models using AUC</a:t>
            </a:r>
          </a:p>
          <a:p>
            <a:pPr marL="285750" indent="-285750">
              <a:lnSpc>
                <a:spcPct val="90000"/>
              </a:lnSpc>
              <a:spcBef>
                <a:spcPts val="1000"/>
              </a:spcBef>
              <a:buClr>
                <a:schemeClr val="accent1"/>
              </a:buClr>
              <a:buSzPct val="80000"/>
              <a:buFont typeface="Wingdings 3" charset="2"/>
              <a:buChar char=""/>
            </a:pPr>
            <a:endParaRPr lang="en-US" sz="1100">
              <a:solidFill>
                <a:srgbClr val="FFFFFF"/>
              </a:solidFill>
            </a:endParaRPr>
          </a:p>
          <a:p>
            <a:pPr marL="285750" indent="-285750">
              <a:lnSpc>
                <a:spcPct val="90000"/>
              </a:lnSpc>
              <a:spcBef>
                <a:spcPts val="1000"/>
              </a:spcBef>
              <a:buClr>
                <a:schemeClr val="accent1"/>
              </a:buClr>
              <a:buSzPct val="80000"/>
              <a:buFont typeface="Wingdings 3" charset="2"/>
              <a:buChar char=""/>
            </a:pPr>
            <a:endParaRPr lang="en-US" sz="1100">
              <a:solidFill>
                <a:srgbClr val="FFFFFF"/>
              </a:solidFill>
            </a:endParaRPr>
          </a:p>
          <a:p>
            <a:pPr marL="285750" indent="-285750">
              <a:lnSpc>
                <a:spcPct val="90000"/>
              </a:lnSpc>
              <a:spcBef>
                <a:spcPts val="1000"/>
              </a:spcBef>
              <a:buClr>
                <a:schemeClr val="accent1"/>
              </a:buClr>
              <a:buSzPct val="80000"/>
              <a:buFont typeface="Wingdings 3" charset="2"/>
              <a:buChar char=""/>
            </a:pPr>
            <a:endParaRPr lang="en-US" sz="1100">
              <a:solidFill>
                <a:srgbClr val="FFFFFF"/>
              </a:solidFill>
            </a:endParaRPr>
          </a:p>
        </p:txBody>
      </p:sp>
    </p:spTree>
    <p:extLst>
      <p:ext uri="{BB962C8B-B14F-4D97-AF65-F5344CB8AC3E}">
        <p14:creationId xmlns:p14="http://schemas.microsoft.com/office/powerpoint/2010/main" val="28864590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0AE486A8-5F00-4863-8D9B-5955D8804ED8}"/>
              </a:ext>
            </a:extLst>
          </p:cNvPr>
          <p:cNvSpPr txBox="1"/>
          <p:nvPr/>
        </p:nvSpPr>
        <p:spPr>
          <a:xfrm>
            <a:off x="539564" y="314683"/>
            <a:ext cx="6400800" cy="461665"/>
          </a:xfrm>
          <a:prstGeom prst="rect">
            <a:avLst/>
          </a:prstGeom>
          <a:noFill/>
        </p:spPr>
        <p:txBody>
          <a:bodyPr wrap="square" rtlCol="0">
            <a:spAutoFit/>
          </a:bodyPr>
          <a:lstStyle/>
          <a:p>
            <a:r>
              <a:rPr lang="en-IN" sz="2400" dirty="0">
                <a:solidFill>
                  <a:schemeClr val="accent1"/>
                </a:solidFill>
              </a:rPr>
              <a:t>Here we can see Data set is imbalanced</a:t>
            </a:r>
          </a:p>
        </p:txBody>
      </p:sp>
      <p:sp>
        <p:nvSpPr>
          <p:cNvPr id="9" name="TextBox 8">
            <a:extLst>
              <a:ext uri="{FF2B5EF4-FFF2-40B4-BE49-F238E27FC236}">
                <a16:creationId xmlns:a16="http://schemas.microsoft.com/office/drawing/2014/main" id="{383B6949-46F3-44D2-98DB-B18DD75A64FA}"/>
              </a:ext>
            </a:extLst>
          </p:cNvPr>
          <p:cNvSpPr txBox="1"/>
          <p:nvPr/>
        </p:nvSpPr>
        <p:spPr>
          <a:xfrm>
            <a:off x="392080" y="2720592"/>
            <a:ext cx="7512148" cy="369332"/>
          </a:xfrm>
          <a:prstGeom prst="rect">
            <a:avLst/>
          </a:prstGeom>
          <a:noFill/>
        </p:spPr>
        <p:txBody>
          <a:bodyPr wrap="square" rtlCol="0">
            <a:spAutoFit/>
          </a:bodyPr>
          <a:lstStyle/>
          <a:p>
            <a:r>
              <a:rPr lang="en-IN" dirty="0"/>
              <a:t>Therefore, there is a  need to use Perform up sampling techniques. </a:t>
            </a:r>
          </a:p>
        </p:txBody>
      </p:sp>
      <p:pic>
        <p:nvPicPr>
          <p:cNvPr id="3" name="Picture 2">
            <a:extLst>
              <a:ext uri="{FF2B5EF4-FFF2-40B4-BE49-F238E27FC236}">
                <a16:creationId xmlns:a16="http://schemas.microsoft.com/office/drawing/2014/main" id="{19467E41-9A9F-46EA-A491-0C6560970C43}"/>
              </a:ext>
            </a:extLst>
          </p:cNvPr>
          <p:cNvPicPr>
            <a:picLocks noChangeAspect="1"/>
          </p:cNvPicPr>
          <p:nvPr/>
        </p:nvPicPr>
        <p:blipFill>
          <a:blip r:embed="rId2"/>
          <a:stretch>
            <a:fillRect/>
          </a:stretch>
        </p:blipFill>
        <p:spPr>
          <a:xfrm>
            <a:off x="1179870" y="1197041"/>
            <a:ext cx="1746523" cy="1155181"/>
          </a:xfrm>
          <a:prstGeom prst="rect">
            <a:avLst/>
          </a:prstGeom>
        </p:spPr>
      </p:pic>
      <p:pic>
        <p:nvPicPr>
          <p:cNvPr id="6" name="Picture 5">
            <a:extLst>
              <a:ext uri="{FF2B5EF4-FFF2-40B4-BE49-F238E27FC236}">
                <a16:creationId xmlns:a16="http://schemas.microsoft.com/office/drawing/2014/main" id="{E0C6DE37-1940-4100-B616-91D52994DE9C}"/>
              </a:ext>
            </a:extLst>
          </p:cNvPr>
          <p:cNvPicPr>
            <a:picLocks noChangeAspect="1"/>
          </p:cNvPicPr>
          <p:nvPr/>
        </p:nvPicPr>
        <p:blipFill>
          <a:blip r:embed="rId3"/>
          <a:stretch>
            <a:fillRect/>
          </a:stretch>
        </p:blipFill>
        <p:spPr>
          <a:xfrm>
            <a:off x="3598038" y="866467"/>
            <a:ext cx="2943831" cy="1854125"/>
          </a:xfrm>
          <a:prstGeom prst="rect">
            <a:avLst/>
          </a:prstGeom>
        </p:spPr>
      </p:pic>
      <p:pic>
        <p:nvPicPr>
          <p:cNvPr id="2" name="Picture 1">
            <a:extLst>
              <a:ext uri="{FF2B5EF4-FFF2-40B4-BE49-F238E27FC236}">
                <a16:creationId xmlns:a16="http://schemas.microsoft.com/office/drawing/2014/main" id="{18613A4E-3934-79DC-114A-20B1BA9BCE38}"/>
              </a:ext>
            </a:extLst>
          </p:cNvPr>
          <p:cNvPicPr>
            <a:picLocks noChangeAspect="1"/>
          </p:cNvPicPr>
          <p:nvPr/>
        </p:nvPicPr>
        <p:blipFill>
          <a:blip r:embed="rId4"/>
          <a:stretch>
            <a:fillRect/>
          </a:stretch>
        </p:blipFill>
        <p:spPr>
          <a:xfrm>
            <a:off x="1179870" y="4600993"/>
            <a:ext cx="3078143" cy="1619023"/>
          </a:xfrm>
          <a:prstGeom prst="rect">
            <a:avLst/>
          </a:prstGeom>
        </p:spPr>
      </p:pic>
      <p:pic>
        <p:nvPicPr>
          <p:cNvPr id="4" name="Picture 3">
            <a:extLst>
              <a:ext uri="{FF2B5EF4-FFF2-40B4-BE49-F238E27FC236}">
                <a16:creationId xmlns:a16="http://schemas.microsoft.com/office/drawing/2014/main" id="{F03E15ED-9FDD-A679-345F-2F7FD238E3E4}"/>
              </a:ext>
            </a:extLst>
          </p:cNvPr>
          <p:cNvPicPr>
            <a:picLocks noChangeAspect="1"/>
          </p:cNvPicPr>
          <p:nvPr/>
        </p:nvPicPr>
        <p:blipFill>
          <a:blip r:embed="rId5"/>
          <a:stretch>
            <a:fillRect/>
          </a:stretch>
        </p:blipFill>
        <p:spPr>
          <a:xfrm>
            <a:off x="4113256" y="4062564"/>
            <a:ext cx="4899637" cy="2795436"/>
          </a:xfrm>
          <a:prstGeom prst="rect">
            <a:avLst/>
          </a:prstGeom>
        </p:spPr>
      </p:pic>
      <p:sp>
        <p:nvSpPr>
          <p:cNvPr id="5" name="TextBox 4">
            <a:extLst>
              <a:ext uri="{FF2B5EF4-FFF2-40B4-BE49-F238E27FC236}">
                <a16:creationId xmlns:a16="http://schemas.microsoft.com/office/drawing/2014/main" id="{5690E3F6-1ADE-3FA8-672D-4AB9C68AC23F}"/>
              </a:ext>
            </a:extLst>
          </p:cNvPr>
          <p:cNvSpPr txBox="1"/>
          <p:nvPr/>
        </p:nvSpPr>
        <p:spPr>
          <a:xfrm>
            <a:off x="2091892" y="3424580"/>
            <a:ext cx="6400800" cy="523220"/>
          </a:xfrm>
          <a:prstGeom prst="rect">
            <a:avLst/>
          </a:prstGeom>
          <a:noFill/>
        </p:spPr>
        <p:txBody>
          <a:bodyPr wrap="square" rtlCol="0">
            <a:spAutoFit/>
          </a:bodyPr>
          <a:lstStyle/>
          <a:p>
            <a:r>
              <a:rPr lang="en-IN" sz="2800" dirty="0">
                <a:solidFill>
                  <a:schemeClr val="accent1"/>
                </a:solidFill>
              </a:rPr>
              <a:t>After Up Sampling the data</a:t>
            </a:r>
          </a:p>
        </p:txBody>
      </p:sp>
    </p:spTree>
    <p:extLst>
      <p:ext uri="{BB962C8B-B14F-4D97-AF65-F5344CB8AC3E}">
        <p14:creationId xmlns:p14="http://schemas.microsoft.com/office/powerpoint/2010/main" val="26827326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41AEBA6-F57B-4D1F-A60E-8C0B7EDBCE13}"/>
              </a:ext>
            </a:extLst>
          </p:cNvPr>
          <p:cNvSpPr txBox="1"/>
          <p:nvPr/>
        </p:nvSpPr>
        <p:spPr>
          <a:xfrm>
            <a:off x="786581" y="1005008"/>
            <a:ext cx="5083277" cy="1261884"/>
          </a:xfrm>
          <a:prstGeom prst="rect">
            <a:avLst/>
          </a:prstGeom>
          <a:noFill/>
        </p:spPr>
        <p:txBody>
          <a:bodyPr wrap="square" rtlCol="0">
            <a:spAutoFit/>
          </a:bodyPr>
          <a:lstStyle/>
          <a:p>
            <a:r>
              <a:rPr lang="en-IN" sz="2000" dirty="0"/>
              <a:t>Here we can see some </a:t>
            </a:r>
            <a:r>
              <a:rPr lang="en-IN" sz="2000" dirty="0">
                <a:solidFill>
                  <a:schemeClr val="accent1"/>
                </a:solidFill>
              </a:rPr>
              <a:t>basic statistical aggregations </a:t>
            </a:r>
            <a:r>
              <a:rPr lang="en-IN" sz="2000" dirty="0"/>
              <a:t>of the numerical columns</a:t>
            </a:r>
            <a:r>
              <a:rPr lang="en-IN" sz="1600" i="1" dirty="0"/>
              <a:t>. Like Age of the customers are between 18-95,etc</a:t>
            </a:r>
          </a:p>
          <a:p>
            <a:endParaRPr lang="en-IN" sz="2000" dirty="0"/>
          </a:p>
        </p:txBody>
      </p:sp>
      <p:pic>
        <p:nvPicPr>
          <p:cNvPr id="3" name="Picture 2">
            <a:extLst>
              <a:ext uri="{FF2B5EF4-FFF2-40B4-BE49-F238E27FC236}">
                <a16:creationId xmlns:a16="http://schemas.microsoft.com/office/drawing/2014/main" id="{692AC9BF-3A1A-48EC-A3E3-88D4F3005BB2}"/>
              </a:ext>
            </a:extLst>
          </p:cNvPr>
          <p:cNvPicPr>
            <a:picLocks noChangeAspect="1"/>
          </p:cNvPicPr>
          <p:nvPr/>
        </p:nvPicPr>
        <p:blipFill>
          <a:blip r:embed="rId2"/>
          <a:stretch>
            <a:fillRect/>
          </a:stretch>
        </p:blipFill>
        <p:spPr>
          <a:xfrm>
            <a:off x="228062" y="2715360"/>
            <a:ext cx="5641796" cy="1974628"/>
          </a:xfrm>
          <a:prstGeom prst="rect">
            <a:avLst/>
          </a:prstGeom>
        </p:spPr>
      </p:pic>
      <p:cxnSp>
        <p:nvCxnSpPr>
          <p:cNvPr id="4" name="Straight Connector 3">
            <a:extLst>
              <a:ext uri="{FF2B5EF4-FFF2-40B4-BE49-F238E27FC236}">
                <a16:creationId xmlns:a16="http://schemas.microsoft.com/office/drawing/2014/main" id="{46F0DF4D-1166-ABCA-3F4B-C2346B4F0428}"/>
              </a:ext>
            </a:extLst>
          </p:cNvPr>
          <p:cNvCxnSpPr/>
          <p:nvPr/>
        </p:nvCxnSpPr>
        <p:spPr>
          <a:xfrm>
            <a:off x="6430297" y="0"/>
            <a:ext cx="0" cy="7000568"/>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80979E5-898E-361C-C094-925C547057F4}"/>
              </a:ext>
            </a:extLst>
          </p:cNvPr>
          <p:cNvSpPr txBox="1"/>
          <p:nvPr/>
        </p:nvSpPr>
        <p:spPr>
          <a:xfrm>
            <a:off x="6607276" y="748539"/>
            <a:ext cx="5345927" cy="984885"/>
          </a:xfrm>
          <a:prstGeom prst="rect">
            <a:avLst/>
          </a:prstGeom>
          <a:noFill/>
        </p:spPr>
        <p:txBody>
          <a:bodyPr wrap="square">
            <a:spAutoFit/>
          </a:bodyPr>
          <a:lstStyle/>
          <a:p>
            <a:pPr algn="l"/>
            <a:r>
              <a:rPr lang="en-US" sz="1600" b="0" i="0" dirty="0">
                <a:solidFill>
                  <a:schemeClr val="accent1"/>
                </a:solidFill>
                <a:effectLst/>
                <a:latin typeface="Roboto"/>
              </a:rPr>
              <a:t>Pair Plot</a:t>
            </a:r>
          </a:p>
          <a:p>
            <a:pPr algn="l"/>
            <a:r>
              <a:rPr lang="en-US" sz="1400" b="0" i="0" dirty="0">
                <a:solidFill>
                  <a:srgbClr val="212121"/>
                </a:solidFill>
                <a:effectLst/>
                <a:latin typeface="Roboto"/>
              </a:rPr>
              <a:t>- There are no obvious highly correlated variable pairs</a:t>
            </a:r>
            <a:br>
              <a:rPr lang="en-US" sz="1400" dirty="0"/>
            </a:br>
            <a:r>
              <a:rPr lang="en-US" sz="1400" b="0" i="0" dirty="0">
                <a:solidFill>
                  <a:srgbClr val="212121"/>
                </a:solidFill>
                <a:effectLst/>
                <a:latin typeface="Roboto"/>
              </a:rPr>
              <a:t>- Let's remove day and month, but keep the rest of the variables</a:t>
            </a:r>
            <a:br>
              <a:rPr lang="en-US" sz="1400" dirty="0"/>
            </a:br>
            <a:r>
              <a:rPr lang="en-US" sz="1400" b="0" i="0" dirty="0">
                <a:solidFill>
                  <a:srgbClr val="212121"/>
                </a:solidFill>
                <a:effectLst/>
                <a:latin typeface="Roboto"/>
              </a:rPr>
              <a:t>- 14 input/predictor variables, 1 response/target variable</a:t>
            </a:r>
            <a:endParaRPr lang="en-US" sz="1400" b="0" i="0" dirty="0">
              <a:solidFill>
                <a:schemeClr val="accent1"/>
              </a:solidFill>
              <a:effectLst/>
              <a:latin typeface="Roboto"/>
            </a:endParaRPr>
          </a:p>
        </p:txBody>
      </p:sp>
      <p:pic>
        <p:nvPicPr>
          <p:cNvPr id="7" name="Picture 6">
            <a:extLst>
              <a:ext uri="{FF2B5EF4-FFF2-40B4-BE49-F238E27FC236}">
                <a16:creationId xmlns:a16="http://schemas.microsoft.com/office/drawing/2014/main" id="{B2627333-E2DA-0F3F-DB58-062D059D0851}"/>
              </a:ext>
            </a:extLst>
          </p:cNvPr>
          <p:cNvPicPr>
            <a:picLocks noChangeAspect="1"/>
          </p:cNvPicPr>
          <p:nvPr/>
        </p:nvPicPr>
        <p:blipFill>
          <a:blip r:embed="rId3"/>
          <a:stretch>
            <a:fillRect/>
          </a:stretch>
        </p:blipFill>
        <p:spPr>
          <a:xfrm>
            <a:off x="6990737" y="1963422"/>
            <a:ext cx="4291528" cy="3572139"/>
          </a:xfrm>
          <a:prstGeom prst="rect">
            <a:avLst/>
          </a:prstGeom>
        </p:spPr>
      </p:pic>
    </p:spTree>
    <p:extLst>
      <p:ext uri="{BB962C8B-B14F-4D97-AF65-F5344CB8AC3E}">
        <p14:creationId xmlns:p14="http://schemas.microsoft.com/office/powerpoint/2010/main" val="37729175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a:extLst>
              <a:ext uri="{FF2B5EF4-FFF2-40B4-BE49-F238E27FC236}">
                <a16:creationId xmlns:a16="http://schemas.microsoft.com/office/drawing/2014/main" id="{67DEC174-915F-450D-9782-EBD9AF49C9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41057" y="1063343"/>
            <a:ext cx="4073623" cy="271233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54469E7-6280-4501-81C0-8E25A0BFE1D1}"/>
              </a:ext>
            </a:extLst>
          </p:cNvPr>
          <p:cNvSpPr txBox="1"/>
          <p:nvPr/>
        </p:nvSpPr>
        <p:spPr>
          <a:xfrm>
            <a:off x="151082" y="252350"/>
            <a:ext cx="4766603" cy="307777"/>
          </a:xfrm>
          <a:prstGeom prst="rect">
            <a:avLst/>
          </a:prstGeom>
          <a:noFill/>
        </p:spPr>
        <p:txBody>
          <a:bodyPr wrap="square" rtlCol="0">
            <a:spAutoFit/>
          </a:bodyPr>
          <a:lstStyle/>
          <a:p>
            <a:r>
              <a:rPr lang="en-IN" sz="1400" dirty="0"/>
              <a:t>We can see that Most of the customers are Married </a:t>
            </a:r>
          </a:p>
        </p:txBody>
      </p:sp>
      <p:sp>
        <p:nvSpPr>
          <p:cNvPr id="7" name="TextBox 6">
            <a:extLst>
              <a:ext uri="{FF2B5EF4-FFF2-40B4-BE49-F238E27FC236}">
                <a16:creationId xmlns:a16="http://schemas.microsoft.com/office/drawing/2014/main" id="{158AFC1C-40EE-4289-B517-DE1977A6A045}"/>
              </a:ext>
            </a:extLst>
          </p:cNvPr>
          <p:cNvSpPr txBox="1"/>
          <p:nvPr/>
        </p:nvSpPr>
        <p:spPr>
          <a:xfrm>
            <a:off x="8318325" y="252350"/>
            <a:ext cx="3722593" cy="738664"/>
          </a:xfrm>
          <a:prstGeom prst="rect">
            <a:avLst/>
          </a:prstGeom>
          <a:noFill/>
        </p:spPr>
        <p:txBody>
          <a:bodyPr wrap="square" rtlCol="0">
            <a:spAutoFit/>
          </a:bodyPr>
          <a:lstStyle/>
          <a:p>
            <a:r>
              <a:rPr lang="en-IN" sz="1400" dirty="0"/>
              <a:t>Marketing we Hight active between May- Aug</a:t>
            </a:r>
          </a:p>
          <a:p>
            <a:r>
              <a:rPr lang="en-IN" sz="1400" dirty="0"/>
              <a:t>In May the campaign might be in pace </a:t>
            </a:r>
          </a:p>
        </p:txBody>
      </p:sp>
      <p:pic>
        <p:nvPicPr>
          <p:cNvPr id="3" name="Picture 2">
            <a:extLst>
              <a:ext uri="{FF2B5EF4-FFF2-40B4-BE49-F238E27FC236}">
                <a16:creationId xmlns:a16="http://schemas.microsoft.com/office/drawing/2014/main" id="{75AA9703-39A3-4CB2-946B-5EC61BEB073F}"/>
              </a:ext>
            </a:extLst>
          </p:cNvPr>
          <p:cNvPicPr>
            <a:picLocks noChangeAspect="1"/>
          </p:cNvPicPr>
          <p:nvPr/>
        </p:nvPicPr>
        <p:blipFill>
          <a:blip r:embed="rId3"/>
          <a:stretch>
            <a:fillRect/>
          </a:stretch>
        </p:blipFill>
        <p:spPr>
          <a:xfrm>
            <a:off x="55904" y="991014"/>
            <a:ext cx="4395041" cy="2532090"/>
          </a:xfrm>
          <a:prstGeom prst="rect">
            <a:avLst/>
          </a:prstGeom>
        </p:spPr>
      </p:pic>
      <p:pic>
        <p:nvPicPr>
          <p:cNvPr id="11" name="Picture 10">
            <a:extLst>
              <a:ext uri="{FF2B5EF4-FFF2-40B4-BE49-F238E27FC236}">
                <a16:creationId xmlns:a16="http://schemas.microsoft.com/office/drawing/2014/main" id="{2B57CA91-8178-7388-97C7-301B779CA845}"/>
              </a:ext>
            </a:extLst>
          </p:cNvPr>
          <p:cNvPicPr>
            <a:picLocks noChangeAspect="1"/>
          </p:cNvPicPr>
          <p:nvPr/>
        </p:nvPicPr>
        <p:blipFill>
          <a:blip r:embed="rId4"/>
          <a:stretch>
            <a:fillRect/>
          </a:stretch>
        </p:blipFill>
        <p:spPr>
          <a:xfrm>
            <a:off x="3260134" y="3848009"/>
            <a:ext cx="5214045" cy="2852002"/>
          </a:xfrm>
          <a:prstGeom prst="rect">
            <a:avLst/>
          </a:prstGeom>
        </p:spPr>
      </p:pic>
      <p:sp>
        <p:nvSpPr>
          <p:cNvPr id="13" name="TextBox 12">
            <a:extLst>
              <a:ext uri="{FF2B5EF4-FFF2-40B4-BE49-F238E27FC236}">
                <a16:creationId xmlns:a16="http://schemas.microsoft.com/office/drawing/2014/main" id="{4F9E2E85-9F36-9BCD-33D9-0FAEA3995163}"/>
              </a:ext>
            </a:extLst>
          </p:cNvPr>
          <p:cNvSpPr txBox="1"/>
          <p:nvPr/>
        </p:nvSpPr>
        <p:spPr>
          <a:xfrm>
            <a:off x="3717824" y="3153772"/>
            <a:ext cx="4756355" cy="738664"/>
          </a:xfrm>
          <a:prstGeom prst="rect">
            <a:avLst/>
          </a:prstGeom>
          <a:noFill/>
        </p:spPr>
        <p:txBody>
          <a:bodyPr wrap="square">
            <a:spAutoFit/>
          </a:bodyPr>
          <a:lstStyle/>
          <a:p>
            <a:r>
              <a:rPr lang="en-IN" sz="1400" dirty="0"/>
              <a:t>By looking at the distribution :</a:t>
            </a:r>
          </a:p>
          <a:p>
            <a:r>
              <a:rPr lang="en-IN" sz="1400" dirty="0"/>
              <a:t>We can see that distribution is rightly skewed </a:t>
            </a:r>
          </a:p>
          <a:p>
            <a:r>
              <a:rPr lang="en-IN" sz="1400" dirty="0"/>
              <a:t>and most of the customers are between the age of 25-60</a:t>
            </a:r>
          </a:p>
        </p:txBody>
      </p:sp>
    </p:spTree>
    <p:extLst>
      <p:ext uri="{BB962C8B-B14F-4D97-AF65-F5344CB8AC3E}">
        <p14:creationId xmlns:p14="http://schemas.microsoft.com/office/powerpoint/2010/main" val="31123478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F03196B-430D-4014-8362-134865448894}"/>
              </a:ext>
            </a:extLst>
          </p:cNvPr>
          <p:cNvSpPr txBox="1"/>
          <p:nvPr/>
        </p:nvSpPr>
        <p:spPr>
          <a:xfrm>
            <a:off x="1026940" y="861255"/>
            <a:ext cx="6654019" cy="461665"/>
          </a:xfrm>
          <a:prstGeom prst="rect">
            <a:avLst/>
          </a:prstGeom>
          <a:noFill/>
        </p:spPr>
        <p:txBody>
          <a:bodyPr wrap="square" rtlCol="0">
            <a:spAutoFit/>
          </a:bodyPr>
          <a:lstStyle/>
          <a:p>
            <a:r>
              <a:rPr lang="en-IN" sz="2400" b="1" dirty="0">
                <a:solidFill>
                  <a:schemeClr val="accent1"/>
                </a:solidFill>
              </a:rPr>
              <a:t>Pre-processing Before Modelling</a:t>
            </a:r>
          </a:p>
        </p:txBody>
      </p:sp>
      <p:sp>
        <p:nvSpPr>
          <p:cNvPr id="7" name="Rectangle 6">
            <a:extLst>
              <a:ext uri="{FF2B5EF4-FFF2-40B4-BE49-F238E27FC236}">
                <a16:creationId xmlns:a16="http://schemas.microsoft.com/office/drawing/2014/main" id="{8F7041F8-96FA-4234-BE5A-AA0A4D016921}"/>
              </a:ext>
            </a:extLst>
          </p:cNvPr>
          <p:cNvSpPr/>
          <p:nvPr/>
        </p:nvSpPr>
        <p:spPr>
          <a:xfrm>
            <a:off x="1305950" y="1725194"/>
            <a:ext cx="6096000" cy="4247317"/>
          </a:xfrm>
          <a:prstGeom prst="rect">
            <a:avLst/>
          </a:prstGeom>
        </p:spPr>
        <p:txBody>
          <a:bodyPr>
            <a:spAutoFit/>
          </a:bodyPr>
          <a:lstStyle/>
          <a:p>
            <a:pPr marL="285750" indent="-285750" algn="just">
              <a:buFont typeface="Arial" panose="020B0604020202020204" pitchFamily="34" charset="0"/>
              <a:buChar char="•"/>
            </a:pPr>
            <a:r>
              <a:rPr lang="en-IN" dirty="0"/>
              <a:t>Looking for NA values</a:t>
            </a:r>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r>
              <a:rPr lang="en-IN" dirty="0"/>
              <a:t>Train Test Split</a:t>
            </a:r>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r>
              <a:rPr lang="en-IN" dirty="0"/>
              <a:t>Label encoding</a:t>
            </a:r>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r>
              <a:rPr lang="en-IN" dirty="0"/>
              <a:t>Choosing relevant variables</a:t>
            </a:r>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r>
              <a:rPr lang="en-IN" dirty="0"/>
              <a:t>Up sampling Data</a:t>
            </a:r>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r>
              <a:rPr lang="en-IN" dirty="0"/>
              <a:t>Vectorizing the data</a:t>
            </a:r>
          </a:p>
          <a:p>
            <a:pPr algn="just"/>
            <a:endParaRPr lang="en-IN" dirty="0"/>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endParaRPr lang="en-IN" dirty="0"/>
          </a:p>
        </p:txBody>
      </p:sp>
    </p:spTree>
    <p:extLst>
      <p:ext uri="{BB962C8B-B14F-4D97-AF65-F5344CB8AC3E}">
        <p14:creationId xmlns:p14="http://schemas.microsoft.com/office/powerpoint/2010/main" val="14503462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52B57-BCFB-40B7-A08D-0C04BAAAD3E3}"/>
              </a:ext>
            </a:extLst>
          </p:cNvPr>
          <p:cNvSpPr>
            <a:spLocks noGrp="1"/>
          </p:cNvSpPr>
          <p:nvPr>
            <p:ph type="title"/>
          </p:nvPr>
        </p:nvSpPr>
        <p:spPr>
          <a:xfrm>
            <a:off x="677334" y="609600"/>
            <a:ext cx="8596668" cy="656492"/>
          </a:xfrm>
        </p:spPr>
        <p:txBody>
          <a:bodyPr>
            <a:normAutofit/>
          </a:bodyPr>
          <a:lstStyle/>
          <a:p>
            <a:r>
              <a:rPr lang="en-IN" sz="2400" dirty="0"/>
              <a:t>Basic Models used:</a:t>
            </a:r>
          </a:p>
        </p:txBody>
      </p:sp>
      <p:sp>
        <p:nvSpPr>
          <p:cNvPr id="3" name="Content Placeholder 2">
            <a:extLst>
              <a:ext uri="{FF2B5EF4-FFF2-40B4-BE49-F238E27FC236}">
                <a16:creationId xmlns:a16="http://schemas.microsoft.com/office/drawing/2014/main" id="{689FD036-5760-45FF-9348-172DF98AC868}"/>
              </a:ext>
            </a:extLst>
          </p:cNvPr>
          <p:cNvSpPr>
            <a:spLocks noGrp="1"/>
          </p:cNvSpPr>
          <p:nvPr>
            <p:ph idx="1"/>
          </p:nvPr>
        </p:nvSpPr>
        <p:spPr>
          <a:xfrm>
            <a:off x="677333" y="1099706"/>
            <a:ext cx="9071577" cy="1505039"/>
          </a:xfrm>
        </p:spPr>
        <p:txBody>
          <a:bodyPr>
            <a:normAutofit/>
          </a:bodyPr>
          <a:lstStyle/>
          <a:p>
            <a:r>
              <a:rPr lang="en-IN" sz="1400" b="1" dirty="0"/>
              <a:t>Logistic Regression</a:t>
            </a:r>
            <a:r>
              <a:rPr lang="en-IN" sz="1200" dirty="0"/>
              <a:t>: </a:t>
            </a:r>
            <a:r>
              <a:rPr lang="en-US" sz="1200" i="0" dirty="0">
                <a:solidFill>
                  <a:srgbClr val="222222"/>
                </a:solidFill>
                <a:effectLst/>
                <a:latin typeface="arial" panose="020B0604020202020204" pitchFamily="34" charset="0"/>
              </a:rPr>
              <a:t>Logistic regression is a statistical model that in its basic form uses a logistic function to model a binary dependent variable, although many more complex extensions exist. In regression analysis, logistic regression (or logit regression) is estimating the parameters of a logistic model (a form of binary regression).</a:t>
            </a:r>
            <a:endParaRPr lang="en-IN" sz="1200" dirty="0"/>
          </a:p>
          <a:p>
            <a:r>
              <a:rPr lang="en-IN" sz="1200" b="1" dirty="0"/>
              <a:t>Decision Tree</a:t>
            </a:r>
            <a:r>
              <a:rPr lang="en-IN" sz="1200" dirty="0"/>
              <a:t>:</a:t>
            </a:r>
            <a:r>
              <a:rPr lang="en-US" sz="1200" i="0" dirty="0">
                <a:solidFill>
                  <a:srgbClr val="222222"/>
                </a:solidFill>
                <a:effectLst/>
                <a:latin typeface="arial" panose="020B0604020202020204" pitchFamily="34" charset="0"/>
              </a:rPr>
              <a:t>A decision tree is a flowchart-like structure in which each internal node represents a "test" on an attribute (e.g. whether a coin flip comes up heads or tails), each branch represents the outcome of the test, and each leaf node represents a class label (decision taken after computing all attributes).</a:t>
            </a:r>
            <a:endParaRPr lang="en-IN" sz="1200" dirty="0"/>
          </a:p>
        </p:txBody>
      </p:sp>
      <p:sp>
        <p:nvSpPr>
          <p:cNvPr id="4" name="Title 1">
            <a:extLst>
              <a:ext uri="{FF2B5EF4-FFF2-40B4-BE49-F238E27FC236}">
                <a16:creationId xmlns:a16="http://schemas.microsoft.com/office/drawing/2014/main" id="{F72D59E0-14D9-0740-96C4-1A77DC5F760E}"/>
              </a:ext>
            </a:extLst>
          </p:cNvPr>
          <p:cNvSpPr txBox="1">
            <a:spLocks/>
          </p:cNvSpPr>
          <p:nvPr/>
        </p:nvSpPr>
        <p:spPr>
          <a:xfrm>
            <a:off x="677333" y="2604745"/>
            <a:ext cx="8596668"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400" dirty="0"/>
              <a:t>Ensemble models used:</a:t>
            </a:r>
          </a:p>
        </p:txBody>
      </p:sp>
      <p:sp>
        <p:nvSpPr>
          <p:cNvPr id="5" name="Content Placeholder 2">
            <a:extLst>
              <a:ext uri="{FF2B5EF4-FFF2-40B4-BE49-F238E27FC236}">
                <a16:creationId xmlns:a16="http://schemas.microsoft.com/office/drawing/2014/main" id="{1E9D980A-7B55-C1B6-455E-8671684B5BBE}"/>
              </a:ext>
            </a:extLst>
          </p:cNvPr>
          <p:cNvSpPr txBox="1">
            <a:spLocks/>
          </p:cNvSpPr>
          <p:nvPr/>
        </p:nvSpPr>
        <p:spPr>
          <a:xfrm>
            <a:off x="602688" y="3094851"/>
            <a:ext cx="8596668" cy="124966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IN" sz="1400" b="1" dirty="0"/>
              <a:t>Random Forest</a:t>
            </a:r>
            <a:r>
              <a:rPr lang="en-IN" sz="1200" dirty="0"/>
              <a:t>:</a:t>
            </a:r>
            <a:r>
              <a:rPr lang="en-US" sz="1200" dirty="0">
                <a:solidFill>
                  <a:srgbClr val="222222"/>
                </a:solidFill>
                <a:latin typeface="arial" panose="020B0604020202020204" pitchFamily="34" charset="0"/>
              </a:rPr>
              <a:t>Random forests or random decision forests are an ensemble learning method for classification, regression and other tasks that operate by constructing a multitude of decision trees at training time and outputting the class that is the mode of the classes (classification) or mean/average prediction (regression) </a:t>
            </a:r>
            <a:endParaRPr lang="en-IN" sz="1200" dirty="0"/>
          </a:p>
          <a:p>
            <a:r>
              <a:rPr lang="en-IN" sz="1400" b="1" dirty="0"/>
              <a:t>Gradient Boosting</a:t>
            </a:r>
            <a:r>
              <a:rPr lang="en-IN" sz="1200" dirty="0"/>
              <a:t>:</a:t>
            </a:r>
            <a:r>
              <a:rPr lang="en-US" sz="1200" b="1" dirty="0">
                <a:solidFill>
                  <a:srgbClr val="222222"/>
                </a:solidFill>
                <a:latin typeface="arial" panose="020B0604020202020204" pitchFamily="34" charset="0"/>
              </a:rPr>
              <a:t> </a:t>
            </a:r>
            <a:r>
              <a:rPr lang="en-US" sz="1200" dirty="0">
                <a:solidFill>
                  <a:srgbClr val="222222"/>
                </a:solidFill>
                <a:latin typeface="arial" panose="020B0604020202020204" pitchFamily="34" charset="0"/>
              </a:rPr>
              <a:t>Gradient boosting is a machine learning technique for regression and classification problems, which produces a prediction model in the form of an ensemble of weak prediction models, typically decision trees.</a:t>
            </a:r>
            <a:endParaRPr lang="en-IN" sz="1200" dirty="0"/>
          </a:p>
          <a:p>
            <a:endParaRPr lang="en-IN" sz="1200" dirty="0"/>
          </a:p>
        </p:txBody>
      </p:sp>
      <p:sp>
        <p:nvSpPr>
          <p:cNvPr id="6" name="Title 1">
            <a:extLst>
              <a:ext uri="{FF2B5EF4-FFF2-40B4-BE49-F238E27FC236}">
                <a16:creationId xmlns:a16="http://schemas.microsoft.com/office/drawing/2014/main" id="{069C4D0E-D50E-5F41-4E65-9CAB9EAFA4DE}"/>
              </a:ext>
            </a:extLst>
          </p:cNvPr>
          <p:cNvSpPr txBox="1">
            <a:spLocks/>
          </p:cNvSpPr>
          <p:nvPr/>
        </p:nvSpPr>
        <p:spPr>
          <a:xfrm>
            <a:off x="955948" y="4545749"/>
            <a:ext cx="8596668" cy="577736"/>
          </a:xfrm>
          <a:prstGeom prst="rect">
            <a:avLst/>
          </a:prstGeom>
        </p:spPr>
        <p:txBody>
          <a:bodyPr vert="horz" lIns="91440" tIns="45720" rIns="91440" bIns="45720" rtlCol="0" anchor="t">
            <a:normAutofit fontScale="92500" lnSpcReduction="2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IN" sz="2000" dirty="0"/>
              <a:t>Results: </a:t>
            </a:r>
            <a:r>
              <a:rPr lang="en-IN" sz="1600" dirty="0"/>
              <a:t>After </a:t>
            </a:r>
            <a:r>
              <a:rPr lang="en-IN" sz="1600" dirty="0" err="1"/>
              <a:t>ParamGrid</a:t>
            </a:r>
            <a:r>
              <a:rPr lang="en-IN" sz="1600" dirty="0"/>
              <a:t> and </a:t>
            </a:r>
            <a:r>
              <a:rPr lang="en-IN" sz="1600" dirty="0" err="1"/>
              <a:t>Crossvalidation</a:t>
            </a:r>
            <a:br>
              <a:rPr lang="en-IN" sz="2000" dirty="0"/>
            </a:br>
            <a:endParaRPr lang="en-IN" sz="2000" dirty="0"/>
          </a:p>
        </p:txBody>
      </p:sp>
      <p:graphicFrame>
        <p:nvGraphicFramePr>
          <p:cNvPr id="7" name="Table 4">
            <a:extLst>
              <a:ext uri="{FF2B5EF4-FFF2-40B4-BE49-F238E27FC236}">
                <a16:creationId xmlns:a16="http://schemas.microsoft.com/office/drawing/2014/main" id="{8921A21E-79FA-9672-4D68-908E6AB3D639}"/>
              </a:ext>
            </a:extLst>
          </p:cNvPr>
          <p:cNvGraphicFramePr>
            <a:graphicFrameLocks noGrp="1"/>
          </p:cNvGraphicFramePr>
          <p:nvPr>
            <p:extLst>
              <p:ext uri="{D42A27DB-BD31-4B8C-83A1-F6EECF244321}">
                <p14:modId xmlns:p14="http://schemas.microsoft.com/office/powerpoint/2010/main" val="3449484441"/>
              </p:ext>
            </p:extLst>
          </p:nvPr>
        </p:nvGraphicFramePr>
        <p:xfrm>
          <a:off x="759654" y="5094313"/>
          <a:ext cx="8989256" cy="1047096"/>
        </p:xfrm>
        <a:graphic>
          <a:graphicData uri="http://schemas.openxmlformats.org/drawingml/2006/table">
            <a:tbl>
              <a:tblPr firstRow="1" bandRow="1">
                <a:tableStyleId>{5C22544A-7EE6-4342-B048-85BDC9FD1C3A}</a:tableStyleId>
              </a:tblPr>
              <a:tblGrid>
                <a:gridCol w="2247314">
                  <a:extLst>
                    <a:ext uri="{9D8B030D-6E8A-4147-A177-3AD203B41FA5}">
                      <a16:colId xmlns:a16="http://schemas.microsoft.com/office/drawing/2014/main" val="3303616643"/>
                    </a:ext>
                  </a:extLst>
                </a:gridCol>
                <a:gridCol w="2247314">
                  <a:extLst>
                    <a:ext uri="{9D8B030D-6E8A-4147-A177-3AD203B41FA5}">
                      <a16:colId xmlns:a16="http://schemas.microsoft.com/office/drawing/2014/main" val="895287934"/>
                    </a:ext>
                  </a:extLst>
                </a:gridCol>
                <a:gridCol w="2247314">
                  <a:extLst>
                    <a:ext uri="{9D8B030D-6E8A-4147-A177-3AD203B41FA5}">
                      <a16:colId xmlns:a16="http://schemas.microsoft.com/office/drawing/2014/main" val="3674929137"/>
                    </a:ext>
                  </a:extLst>
                </a:gridCol>
                <a:gridCol w="2247314">
                  <a:extLst>
                    <a:ext uri="{9D8B030D-6E8A-4147-A177-3AD203B41FA5}">
                      <a16:colId xmlns:a16="http://schemas.microsoft.com/office/drawing/2014/main" val="4089817497"/>
                    </a:ext>
                  </a:extLst>
                </a:gridCol>
              </a:tblGrid>
              <a:tr h="681336">
                <a:tc>
                  <a:txBody>
                    <a:bodyPr/>
                    <a:lstStyle/>
                    <a:p>
                      <a:r>
                        <a:rPr lang="en-IN" dirty="0"/>
                        <a:t>Logistic Regression</a:t>
                      </a:r>
                    </a:p>
                  </a:txBody>
                  <a:tcPr/>
                </a:tc>
                <a:tc>
                  <a:txBody>
                    <a:bodyPr/>
                    <a:lstStyle/>
                    <a:p>
                      <a:r>
                        <a:rPr lang="en-IN" dirty="0"/>
                        <a:t>Decision Tree</a:t>
                      </a:r>
                    </a:p>
                  </a:txBody>
                  <a:tcPr/>
                </a:tc>
                <a:tc>
                  <a:txBody>
                    <a:bodyPr/>
                    <a:lstStyle/>
                    <a:p>
                      <a:r>
                        <a:rPr lang="en-IN" dirty="0"/>
                        <a:t>Random Forest</a:t>
                      </a:r>
                    </a:p>
                  </a:txBody>
                  <a:tcPr/>
                </a:tc>
                <a:tc>
                  <a:txBody>
                    <a:bodyPr/>
                    <a:lstStyle/>
                    <a:p>
                      <a:r>
                        <a:rPr lang="en-IN" dirty="0"/>
                        <a:t>Gradient Boosting</a:t>
                      </a:r>
                    </a:p>
                  </a:txBody>
                  <a:tcPr/>
                </a:tc>
                <a:extLst>
                  <a:ext uri="{0D108BD9-81ED-4DB2-BD59-A6C34878D82A}">
                    <a16:rowId xmlns:a16="http://schemas.microsoft.com/office/drawing/2014/main" val="1282913107"/>
                  </a:ext>
                </a:extLst>
              </a:tr>
              <a:tr h="273148">
                <a:tc>
                  <a:txBody>
                    <a:bodyPr/>
                    <a:lstStyle/>
                    <a:p>
                      <a:r>
                        <a:rPr lang="en-IN" sz="1800" b="0" i="0" kern="1200" dirty="0">
                          <a:solidFill>
                            <a:schemeClr val="dk1"/>
                          </a:solidFill>
                          <a:effectLst/>
                          <a:latin typeface="+mn-lt"/>
                          <a:ea typeface="+mn-ea"/>
                          <a:cs typeface="+mn-cs"/>
                        </a:rPr>
                        <a:t>0.8960</a:t>
                      </a:r>
                      <a:endParaRPr lang="en-IN" dirty="0"/>
                    </a:p>
                  </a:txBody>
                  <a:tcPr/>
                </a:tc>
                <a:tc>
                  <a:txBody>
                    <a:bodyPr/>
                    <a:lstStyle/>
                    <a:p>
                      <a:r>
                        <a:rPr lang="en-IN" sz="1800" b="0" i="0" kern="1200" dirty="0">
                          <a:solidFill>
                            <a:schemeClr val="dk1"/>
                          </a:solidFill>
                          <a:effectLst/>
                          <a:latin typeface="+mn-lt"/>
                          <a:ea typeface="+mn-ea"/>
                          <a:cs typeface="+mn-cs"/>
                        </a:rPr>
                        <a:t>0.6680</a:t>
                      </a:r>
                      <a:endParaRPr lang="en-IN" dirty="0"/>
                    </a:p>
                  </a:txBody>
                  <a:tcPr/>
                </a:tc>
                <a:tc>
                  <a:txBody>
                    <a:bodyPr/>
                    <a:lstStyle/>
                    <a:p>
                      <a:r>
                        <a:rPr lang="en-IN" sz="1800" b="0" i="0" kern="1200" dirty="0">
                          <a:solidFill>
                            <a:schemeClr val="dk1"/>
                          </a:solidFill>
                          <a:effectLst/>
                          <a:latin typeface="+mn-lt"/>
                          <a:ea typeface="+mn-ea"/>
                          <a:cs typeface="+mn-cs"/>
                        </a:rPr>
                        <a:t>0.8855</a:t>
                      </a:r>
                      <a:endParaRPr lang="en-IN" dirty="0"/>
                    </a:p>
                  </a:txBody>
                  <a:tcPr/>
                </a:tc>
                <a:tc>
                  <a:txBody>
                    <a:bodyPr/>
                    <a:lstStyle/>
                    <a:p>
                      <a:r>
                        <a:rPr lang="en-IN" sz="1800" b="0" i="0" kern="1200" dirty="0">
                          <a:solidFill>
                            <a:schemeClr val="dk1"/>
                          </a:solidFill>
                          <a:effectLst/>
                          <a:latin typeface="+mn-lt"/>
                          <a:ea typeface="+mn-ea"/>
                          <a:cs typeface="+mn-cs"/>
                        </a:rPr>
                        <a:t>0.9032</a:t>
                      </a:r>
                      <a:endParaRPr lang="en-IN" dirty="0"/>
                    </a:p>
                  </a:txBody>
                  <a:tcPr/>
                </a:tc>
                <a:extLst>
                  <a:ext uri="{0D108BD9-81ED-4DB2-BD59-A6C34878D82A}">
                    <a16:rowId xmlns:a16="http://schemas.microsoft.com/office/drawing/2014/main" val="3800597905"/>
                  </a:ext>
                </a:extLst>
              </a:tr>
            </a:tbl>
          </a:graphicData>
        </a:graphic>
      </p:graphicFrame>
    </p:spTree>
    <p:extLst>
      <p:ext uri="{BB962C8B-B14F-4D97-AF65-F5344CB8AC3E}">
        <p14:creationId xmlns:p14="http://schemas.microsoft.com/office/powerpoint/2010/main" val="36075813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46D406F-A83B-4E29-AE5E-66CC360A786B}"/>
              </a:ext>
            </a:extLst>
          </p:cNvPr>
          <p:cNvSpPr txBox="1"/>
          <p:nvPr/>
        </p:nvSpPr>
        <p:spPr>
          <a:xfrm>
            <a:off x="813054" y="4468403"/>
            <a:ext cx="7807569" cy="2185214"/>
          </a:xfrm>
          <a:prstGeom prst="rect">
            <a:avLst/>
          </a:prstGeom>
          <a:noFill/>
        </p:spPr>
        <p:txBody>
          <a:bodyPr wrap="square">
            <a:spAutoFit/>
          </a:bodyPr>
          <a:lstStyle/>
          <a:p>
            <a:pPr algn="l"/>
            <a:r>
              <a:rPr lang="en-US" sz="2800" b="1" i="0" dirty="0">
                <a:solidFill>
                  <a:srgbClr val="92D050"/>
                </a:solidFill>
                <a:effectLst/>
                <a:latin typeface="Roboto"/>
              </a:rPr>
              <a:t>Conclusion</a:t>
            </a:r>
            <a:r>
              <a:rPr lang="en-US" b="1" i="0" dirty="0">
                <a:solidFill>
                  <a:srgbClr val="92D050"/>
                </a:solidFill>
                <a:effectLst/>
                <a:latin typeface="Roboto"/>
              </a:rPr>
              <a:t>:</a:t>
            </a:r>
            <a:endParaRPr lang="en-US" b="0" i="0" dirty="0">
              <a:solidFill>
                <a:srgbClr val="92D050"/>
              </a:solidFill>
              <a:effectLst/>
              <a:latin typeface="Roboto"/>
            </a:endParaRPr>
          </a:p>
          <a:p>
            <a:pPr algn="l"/>
            <a:r>
              <a:rPr lang="en-US" b="0" i="0" dirty="0">
                <a:effectLst/>
                <a:latin typeface="var(--colab-chrome-font-family)"/>
              </a:rPr>
              <a:t>As we can see that ROC Score for Boosting Algorithm is slight higher than the other As it converts weak learner to strong learners.</a:t>
            </a:r>
          </a:p>
          <a:p>
            <a:pPr algn="l"/>
            <a:endParaRPr lang="en-US" b="0" i="0" dirty="0">
              <a:effectLst/>
              <a:latin typeface="var(--colab-chrome-font-family)"/>
            </a:endParaRPr>
          </a:p>
          <a:p>
            <a:pPr algn="l"/>
            <a:r>
              <a:rPr lang="en-US" b="1" i="0" dirty="0">
                <a:effectLst/>
                <a:latin typeface="Roboto"/>
              </a:rPr>
              <a:t>Therefore, we can Move ahead with the Gradient Boosting with the Best Params which we have found using Grid Search and validated using Cross Validation.</a:t>
            </a:r>
          </a:p>
        </p:txBody>
      </p:sp>
      <p:sp>
        <p:nvSpPr>
          <p:cNvPr id="5" name="TextBox 4">
            <a:extLst>
              <a:ext uri="{FF2B5EF4-FFF2-40B4-BE49-F238E27FC236}">
                <a16:creationId xmlns:a16="http://schemas.microsoft.com/office/drawing/2014/main" id="{79D02F2B-7440-2C39-9DDF-61EC5C6DCEB7}"/>
              </a:ext>
            </a:extLst>
          </p:cNvPr>
          <p:cNvSpPr txBox="1"/>
          <p:nvPr/>
        </p:nvSpPr>
        <p:spPr>
          <a:xfrm>
            <a:off x="534443" y="382695"/>
            <a:ext cx="8364793" cy="2708434"/>
          </a:xfrm>
          <a:prstGeom prst="rect">
            <a:avLst/>
          </a:prstGeom>
          <a:noFill/>
        </p:spPr>
        <p:txBody>
          <a:bodyPr wrap="square">
            <a:spAutoFit/>
          </a:bodyPr>
          <a:lstStyle/>
          <a:p>
            <a:endParaRPr lang="en-US" sz="1800" dirty="0"/>
          </a:p>
          <a:p>
            <a:pPr marL="0" indent="0">
              <a:buNone/>
            </a:pPr>
            <a:r>
              <a:rPr lang="en-IN" sz="1800" b="1" dirty="0">
                <a:solidFill>
                  <a:schemeClr val="accent1"/>
                </a:solidFill>
              </a:rPr>
              <a:t>Bank Marketing</a:t>
            </a:r>
            <a:endParaRPr lang="en-US" sz="1800" b="1" dirty="0">
              <a:solidFill>
                <a:schemeClr val="accent1"/>
              </a:solidFill>
            </a:endParaRPr>
          </a:p>
          <a:p>
            <a:r>
              <a:rPr lang="en-US" sz="1400" dirty="0"/>
              <a:t>In simple words, </a:t>
            </a:r>
            <a:r>
              <a:rPr lang="en-US" sz="1400" b="1" dirty="0"/>
              <a:t>bank marketing</a:t>
            </a:r>
            <a:r>
              <a:rPr lang="en-US" sz="1400" dirty="0"/>
              <a:t> is the design structure, layout and delivery of customer-needed services worked out by checking out the corporate objectives of the </a:t>
            </a:r>
            <a:r>
              <a:rPr lang="en-US" sz="1400" b="1" dirty="0"/>
              <a:t>bank</a:t>
            </a:r>
            <a:r>
              <a:rPr lang="en-US" sz="1400" dirty="0"/>
              <a:t> and environmental constraints.</a:t>
            </a:r>
          </a:p>
          <a:p>
            <a:pPr marL="0" indent="0">
              <a:buNone/>
            </a:pPr>
            <a:r>
              <a:rPr lang="en-US" b="1" dirty="0">
                <a:effectLst/>
              </a:rPr>
              <a:t>Why is marketing important for banks?</a:t>
            </a:r>
          </a:p>
          <a:p>
            <a:pPr marL="0" indent="0">
              <a:buNone/>
            </a:pPr>
            <a:r>
              <a:rPr lang="en-US" sz="1400" dirty="0">
                <a:effectLst/>
              </a:rPr>
              <a:t>The </a:t>
            </a:r>
            <a:r>
              <a:rPr lang="en-US" sz="1400" b="1" dirty="0">
                <a:effectLst/>
              </a:rPr>
              <a:t>banking</a:t>
            </a:r>
            <a:r>
              <a:rPr lang="en-US" sz="1400" dirty="0">
                <a:effectLst/>
              </a:rPr>
              <a:t> sector plays a key role in the development of the economy. </a:t>
            </a:r>
            <a:r>
              <a:rPr lang="en-US" sz="1400" b="1" dirty="0">
                <a:effectLst/>
              </a:rPr>
              <a:t>Banks</a:t>
            </a:r>
            <a:r>
              <a:rPr lang="en-US" sz="1400" dirty="0">
                <a:effectLst/>
              </a:rPr>
              <a:t> are now giving </a:t>
            </a:r>
            <a:r>
              <a:rPr lang="en-US" sz="1400" b="1" dirty="0">
                <a:effectLst/>
              </a:rPr>
              <a:t>importance</a:t>
            </a:r>
            <a:r>
              <a:rPr lang="en-US" sz="1400" dirty="0">
                <a:effectLst/>
              </a:rPr>
              <a:t> to the </a:t>
            </a:r>
            <a:r>
              <a:rPr lang="en-US" sz="1400" b="1" dirty="0">
                <a:effectLst/>
              </a:rPr>
              <a:t>marketing</a:t>
            </a:r>
            <a:r>
              <a:rPr lang="en-US" sz="1400" dirty="0">
                <a:effectLst/>
              </a:rPr>
              <a:t> activities to create awareness regarding their services to the public. Customer satisfaction is </a:t>
            </a:r>
            <a:r>
              <a:rPr lang="en-US" sz="1400" b="1" dirty="0">
                <a:effectLst/>
              </a:rPr>
              <a:t>important</a:t>
            </a:r>
            <a:r>
              <a:rPr lang="en-US" sz="1400" dirty="0">
                <a:effectLst/>
              </a:rPr>
              <a:t> so that </a:t>
            </a:r>
            <a:r>
              <a:rPr lang="en-US" sz="1400" b="1" dirty="0">
                <a:effectLst/>
              </a:rPr>
              <a:t>banks</a:t>
            </a:r>
            <a:r>
              <a:rPr lang="en-US" sz="1400" dirty="0">
                <a:effectLst/>
              </a:rPr>
              <a:t> are introducing new instruments and ways to attract the customers.</a:t>
            </a:r>
          </a:p>
          <a:p>
            <a:endParaRPr lang="en-IN" sz="1800" dirty="0"/>
          </a:p>
        </p:txBody>
      </p:sp>
      <p:grpSp>
        <p:nvGrpSpPr>
          <p:cNvPr id="10" name="Group 9">
            <a:extLst>
              <a:ext uri="{FF2B5EF4-FFF2-40B4-BE49-F238E27FC236}">
                <a16:creationId xmlns:a16="http://schemas.microsoft.com/office/drawing/2014/main" id="{ED5A41E5-D15E-83CC-F7B2-E27ED66B2905}"/>
              </a:ext>
            </a:extLst>
          </p:cNvPr>
          <p:cNvGrpSpPr/>
          <p:nvPr/>
        </p:nvGrpSpPr>
        <p:grpSpPr>
          <a:xfrm>
            <a:off x="813054" y="3023117"/>
            <a:ext cx="8946766" cy="1445285"/>
            <a:chOff x="0" y="3038949"/>
            <a:chExt cx="8596668" cy="570375"/>
          </a:xfrm>
        </p:grpSpPr>
        <p:sp>
          <p:nvSpPr>
            <p:cNvPr id="11" name="Rectangle: Rounded Corners 10">
              <a:extLst>
                <a:ext uri="{FF2B5EF4-FFF2-40B4-BE49-F238E27FC236}">
                  <a16:creationId xmlns:a16="http://schemas.microsoft.com/office/drawing/2014/main" id="{4EE7608D-94D7-F676-A3EB-382DE040C0D5}"/>
                </a:ext>
              </a:extLst>
            </p:cNvPr>
            <p:cNvSpPr/>
            <p:nvPr/>
          </p:nvSpPr>
          <p:spPr>
            <a:xfrm>
              <a:off x="0" y="3038949"/>
              <a:ext cx="8596668" cy="570375"/>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2" name="Rectangle: Rounded Corners 6">
              <a:extLst>
                <a:ext uri="{FF2B5EF4-FFF2-40B4-BE49-F238E27FC236}">
                  <a16:creationId xmlns:a16="http://schemas.microsoft.com/office/drawing/2014/main" id="{28331D81-2E6C-90C0-D9E0-A9C6BF2E171A}"/>
                </a:ext>
              </a:extLst>
            </p:cNvPr>
            <p:cNvSpPr txBox="1"/>
            <p:nvPr/>
          </p:nvSpPr>
          <p:spPr>
            <a:xfrm>
              <a:off x="70790" y="3205694"/>
              <a:ext cx="7807569" cy="31548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dirty="0"/>
                <a:t>Other Projects using the same data has use either only basic models or have done some statistical analysis.</a:t>
              </a:r>
            </a:p>
            <a:p>
              <a:pPr marL="0" lvl="0" indent="0" algn="l" defTabSz="666750">
                <a:lnSpc>
                  <a:spcPct val="90000"/>
                </a:lnSpc>
                <a:spcBef>
                  <a:spcPct val="0"/>
                </a:spcBef>
                <a:spcAft>
                  <a:spcPct val="35000"/>
                </a:spcAft>
                <a:buNone/>
              </a:pPr>
              <a:r>
                <a:rPr lang="en-US" sz="1500" kern="1200" dirty="0"/>
                <a:t>We have been looking into the data distribution, up sampled the data and trained the Ensemble models with Boosting to achieved best results and get higher data understanding and accuracy.</a:t>
              </a:r>
            </a:p>
          </p:txBody>
        </p:sp>
      </p:grpSp>
    </p:spTree>
    <p:extLst>
      <p:ext uri="{BB962C8B-B14F-4D97-AF65-F5344CB8AC3E}">
        <p14:creationId xmlns:p14="http://schemas.microsoft.com/office/powerpoint/2010/main" val="14045678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9" name="Rectangle 9">
            <a:extLst>
              <a:ext uri="{FF2B5EF4-FFF2-40B4-BE49-F238E27FC236}">
                <a16:creationId xmlns:a16="http://schemas.microsoft.com/office/drawing/2014/main" id="{E80B86A7-A1EC-475B-9166-88902B033A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Isosceles Triangle 11">
            <a:extLst>
              <a:ext uri="{FF2B5EF4-FFF2-40B4-BE49-F238E27FC236}">
                <a16:creationId xmlns:a16="http://schemas.microsoft.com/office/drawing/2014/main" id="{C2C29CB1-9F74-4879-A6AF-AEA67B6F1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sp>
        <p:nvSpPr>
          <p:cNvPr id="51" name="Isosceles Triangle 13">
            <a:extLst>
              <a:ext uri="{FF2B5EF4-FFF2-40B4-BE49-F238E27FC236}">
                <a16:creationId xmlns:a16="http://schemas.microsoft.com/office/drawing/2014/main" id="{7E2C7115-5336-410C-AD71-0F0952A2E5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aphicFrame>
        <p:nvGraphicFramePr>
          <p:cNvPr id="40" name="TextBox 4">
            <a:extLst>
              <a:ext uri="{FF2B5EF4-FFF2-40B4-BE49-F238E27FC236}">
                <a16:creationId xmlns:a16="http://schemas.microsoft.com/office/drawing/2014/main" id="{6156126C-479A-D133-E5B9-B4E4B0661ADB}"/>
              </a:ext>
            </a:extLst>
          </p:cNvPr>
          <p:cNvGraphicFramePr/>
          <p:nvPr>
            <p:extLst>
              <p:ext uri="{D42A27DB-BD31-4B8C-83A1-F6EECF244321}">
                <p14:modId xmlns:p14="http://schemas.microsoft.com/office/powerpoint/2010/main" val="2954238117"/>
              </p:ext>
            </p:extLst>
          </p:nvPr>
        </p:nvGraphicFramePr>
        <p:xfrm>
          <a:off x="1352957" y="1635296"/>
          <a:ext cx="8596668" cy="38807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7492214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751</TotalTime>
  <Words>1166</Words>
  <Application>Microsoft Office PowerPoint</Application>
  <PresentationFormat>Widescreen</PresentationFormat>
  <Paragraphs>91</Paragraphs>
  <Slides>12</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12</vt:i4>
      </vt:variant>
    </vt:vector>
  </HeadingPairs>
  <TitlesOfParts>
    <vt:vector size="22" baseType="lpstr">
      <vt:lpstr>Arial</vt:lpstr>
      <vt:lpstr>Arial</vt:lpstr>
      <vt:lpstr>Calibri</vt:lpstr>
      <vt:lpstr>Calibri Light</vt:lpstr>
      <vt:lpstr>Roboto</vt:lpstr>
      <vt:lpstr>Times New Roman</vt:lpstr>
      <vt:lpstr>Trebuchet MS</vt:lpstr>
      <vt:lpstr>var(--colab-chrome-font-family)</vt:lpstr>
      <vt:lpstr>Wingdings 3</vt:lpstr>
      <vt:lpstr>Facet</vt:lpstr>
      <vt:lpstr>Bank Marketing: To Predict if the client will Subscribe for Term Deposit</vt:lpstr>
      <vt:lpstr>PowerPoint Presentation</vt:lpstr>
      <vt:lpstr>About Dataset</vt:lpstr>
      <vt:lpstr>PowerPoint Presentation</vt:lpstr>
      <vt:lpstr>PowerPoint Presentation</vt:lpstr>
      <vt:lpstr>PowerPoint Presentation</vt:lpstr>
      <vt:lpstr>PowerPoint Presentation</vt:lpstr>
      <vt:lpstr>PowerPoint Presentation</vt:lpstr>
      <vt:lpstr>PowerPoint Presentation</vt:lpstr>
      <vt:lpstr>Basic Models used:</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Bank Marketing</dc:title>
  <dc:creator>Saruk Shaikh</dc:creator>
  <cp:lastModifiedBy>Saruk Abdul Halim Shaikh</cp:lastModifiedBy>
  <cp:revision>37</cp:revision>
  <dcterms:created xsi:type="dcterms:W3CDTF">2020-10-19T10:07:21Z</dcterms:created>
  <dcterms:modified xsi:type="dcterms:W3CDTF">2022-12-12T10:35:28Z</dcterms:modified>
</cp:coreProperties>
</file>