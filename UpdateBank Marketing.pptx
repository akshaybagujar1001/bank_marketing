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5" r:id="rId4"/>
    <p:sldId id="276" r:id="rId5"/>
    <p:sldId id="278" r:id="rId6"/>
    <p:sldId id="279" r:id="rId7"/>
    <p:sldId id="277" r:id="rId8"/>
    <p:sldId id="262" r:id="rId9"/>
    <p:sldId id="261" r:id="rId10"/>
    <p:sldId id="263" r:id="rId11"/>
    <p:sldId id="260" r:id="rId12"/>
    <p:sldId id="259" r:id="rId13"/>
    <p:sldId id="274" r:id="rId14"/>
    <p:sldId id="258" r:id="rId15"/>
    <p:sldId id="264" r:id="rId16"/>
    <p:sldId id="265" r:id="rId17"/>
    <p:sldId id="266" r:id="rId18"/>
    <p:sldId id="267" r:id="rId19"/>
    <p:sldId id="268" r:id="rId20"/>
    <p:sldId id="269" r:id="rId21"/>
    <p:sldId id="273" r:id="rId22"/>
    <p:sldId id="270"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99957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98675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22199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52281B-256C-4764-A291-5C80CAB20650}" type="datetimeFigureOut">
              <a:rPr lang="en-IN" smtClean="0"/>
              <a:t>21-11-2022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51037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52281B-256C-4764-A291-5C80CAB20650}" type="datetimeFigureOut">
              <a:rPr lang="en-IN" smtClean="0"/>
              <a:t>21-11-2022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944425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52281B-256C-4764-A291-5C80CAB20650}" type="datetimeFigureOut">
              <a:rPr lang="en-IN" smtClean="0"/>
              <a:t>21-11-2022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887686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52281B-256C-4764-A291-5C80CAB20650}" type="datetimeFigureOut">
              <a:rPr lang="en-IN" smtClean="0"/>
              <a:t>21-11-2022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92130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2281B-256C-4764-A291-5C80CAB20650}" type="datetimeFigureOut">
              <a:rPr lang="en-IN" smtClean="0"/>
              <a:t>21-11-2022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028171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52281B-256C-4764-A291-5C80CAB20650}" type="datetimeFigureOut">
              <a:rPr lang="en-IN" smtClean="0"/>
              <a:t>21-11-2022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00361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80691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16695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40126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39199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4160244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4063910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21-11-2022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345207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52281B-256C-4764-A291-5C80CAB20650}" type="datetimeFigureOut">
              <a:rPr lang="en-IN" smtClean="0"/>
              <a:t>21-11-2022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05D1268-8E77-4161-8987-A12BE1A6D6ED}" type="slidenum">
              <a:rPr lang="en-IN" smtClean="0"/>
              <a:t>‹#›</a:t>
            </a:fld>
            <a:endParaRPr lang="en-IN"/>
          </a:p>
        </p:txBody>
      </p:sp>
    </p:spTree>
    <p:extLst>
      <p:ext uri="{BB962C8B-B14F-4D97-AF65-F5344CB8AC3E}">
        <p14:creationId xmlns:p14="http://schemas.microsoft.com/office/powerpoint/2010/main" val="779965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archive.ics.uci.edu/ml/datasets/Bank+Market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661C-6B0D-4A37-9338-90B560A4D39F}"/>
              </a:ext>
            </a:extLst>
          </p:cNvPr>
          <p:cNvSpPr>
            <a:spLocks noGrp="1"/>
          </p:cNvSpPr>
          <p:nvPr>
            <p:ph type="ctrTitle"/>
          </p:nvPr>
        </p:nvSpPr>
        <p:spPr/>
        <p:txBody>
          <a:bodyPr/>
          <a:lstStyle/>
          <a:p>
            <a:pPr marL="0" marR="0" algn="ctr">
              <a:lnSpc>
                <a:spcPct val="107000"/>
              </a:lnSpc>
              <a:spcBef>
                <a:spcPts val="1200"/>
              </a:spcBef>
              <a:spcAft>
                <a:spcPts val="0"/>
              </a:spcAft>
            </a:pPr>
            <a:r>
              <a:rPr lang="en-IN" sz="3200" b="1" u="sng"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Bank Marketing: To Predict if the client will Subscribe for Term Deposit</a:t>
            </a:r>
            <a:endParaRPr lang="en-US"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436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7527-BC66-4CA8-8BE0-BAC1FEFED7F2}"/>
              </a:ext>
            </a:extLst>
          </p:cNvPr>
          <p:cNvSpPr>
            <a:spLocks noGrp="1"/>
          </p:cNvSpPr>
          <p:nvPr>
            <p:ph type="title"/>
          </p:nvPr>
        </p:nvSpPr>
        <p:spPr/>
        <p:txBody>
          <a:bodyPr>
            <a:normAutofit/>
          </a:bodyPr>
          <a:lstStyle/>
          <a:p>
            <a:r>
              <a:rPr lang="en-IN" sz="2800" dirty="0"/>
              <a:t>Bank Marketing</a:t>
            </a:r>
          </a:p>
        </p:txBody>
      </p:sp>
      <p:sp>
        <p:nvSpPr>
          <p:cNvPr id="3" name="Content Placeholder 2">
            <a:extLst>
              <a:ext uri="{FF2B5EF4-FFF2-40B4-BE49-F238E27FC236}">
                <a16:creationId xmlns:a16="http://schemas.microsoft.com/office/drawing/2014/main" id="{74DCA4F0-D1DE-4C10-9C94-8E38AB9916AA}"/>
              </a:ext>
            </a:extLst>
          </p:cNvPr>
          <p:cNvSpPr>
            <a:spLocks noGrp="1"/>
          </p:cNvSpPr>
          <p:nvPr>
            <p:ph idx="1"/>
          </p:nvPr>
        </p:nvSpPr>
        <p:spPr>
          <a:xfrm>
            <a:off x="677334" y="1488613"/>
            <a:ext cx="8596668" cy="3880773"/>
          </a:xfrm>
        </p:spPr>
        <p:txBody>
          <a:bodyPr/>
          <a:lstStyle/>
          <a:p>
            <a:r>
              <a:rPr lang="en-US" dirty="0"/>
              <a:t>In simple words, </a:t>
            </a:r>
            <a:r>
              <a:rPr lang="en-US" b="1" dirty="0"/>
              <a:t>bank marketing</a:t>
            </a:r>
            <a:r>
              <a:rPr lang="en-US" dirty="0"/>
              <a:t> is the design structure, layout and delivery of customer-needed services worked out by checking out the corporate objectives of the </a:t>
            </a:r>
            <a:r>
              <a:rPr lang="en-US" b="1" dirty="0"/>
              <a:t>bank</a:t>
            </a:r>
            <a:r>
              <a:rPr lang="en-US" dirty="0"/>
              <a:t> and environmental constraints.</a:t>
            </a:r>
          </a:p>
          <a:p>
            <a:endParaRPr lang="en-US" dirty="0"/>
          </a:p>
          <a:p>
            <a:endParaRPr lang="en-US" dirty="0"/>
          </a:p>
          <a:p>
            <a:pPr marL="0" indent="0">
              <a:buNone/>
            </a:pPr>
            <a:r>
              <a:rPr lang="en-US" sz="2400" b="1" dirty="0">
                <a:effectLst/>
              </a:rPr>
              <a:t>Why is marketing important for banks?</a:t>
            </a:r>
          </a:p>
          <a:p>
            <a:r>
              <a:rPr lang="en-US" dirty="0">
                <a:effectLst/>
              </a:rPr>
              <a:t>The </a:t>
            </a:r>
            <a:r>
              <a:rPr lang="en-US" b="1" dirty="0">
                <a:effectLst/>
              </a:rPr>
              <a:t>banking</a:t>
            </a:r>
            <a:r>
              <a:rPr lang="en-US" dirty="0">
                <a:effectLst/>
              </a:rPr>
              <a:t> sector plays a key role in the development of the economy. </a:t>
            </a:r>
            <a:r>
              <a:rPr lang="en-US" b="1" dirty="0">
                <a:effectLst/>
              </a:rPr>
              <a:t>Banks</a:t>
            </a:r>
            <a:r>
              <a:rPr lang="en-US" dirty="0">
                <a:effectLst/>
              </a:rPr>
              <a:t> are now giving </a:t>
            </a:r>
            <a:r>
              <a:rPr lang="en-US" b="1" dirty="0">
                <a:effectLst/>
              </a:rPr>
              <a:t>importance</a:t>
            </a:r>
            <a:r>
              <a:rPr lang="en-US" dirty="0">
                <a:effectLst/>
              </a:rPr>
              <a:t> to the </a:t>
            </a:r>
            <a:r>
              <a:rPr lang="en-US" b="1" dirty="0">
                <a:effectLst/>
              </a:rPr>
              <a:t>marketing</a:t>
            </a:r>
            <a:r>
              <a:rPr lang="en-US" dirty="0">
                <a:effectLst/>
              </a:rPr>
              <a:t> activities to create awareness regarding their services to the public. Customer satisfaction is </a:t>
            </a:r>
            <a:r>
              <a:rPr lang="en-US" b="1" dirty="0">
                <a:effectLst/>
              </a:rPr>
              <a:t>important</a:t>
            </a:r>
            <a:r>
              <a:rPr lang="en-US" dirty="0">
                <a:effectLst/>
              </a:rPr>
              <a:t> so that </a:t>
            </a:r>
            <a:r>
              <a:rPr lang="en-US" b="1" dirty="0">
                <a:effectLst/>
              </a:rPr>
              <a:t>banks</a:t>
            </a:r>
            <a:r>
              <a:rPr lang="en-US" dirty="0">
                <a:effectLst/>
              </a:rPr>
              <a:t> are introducing new instruments and ways to attract the customers.</a:t>
            </a:r>
          </a:p>
          <a:p>
            <a:endParaRPr lang="en-IN" dirty="0"/>
          </a:p>
        </p:txBody>
      </p:sp>
    </p:spTree>
    <p:extLst>
      <p:ext uri="{BB962C8B-B14F-4D97-AF65-F5344CB8AC3E}">
        <p14:creationId xmlns:p14="http://schemas.microsoft.com/office/powerpoint/2010/main" val="941022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62061-D705-9E3F-0EC6-8BA956CED023}"/>
              </a:ext>
            </a:extLst>
          </p:cNvPr>
          <p:cNvSpPr>
            <a:spLocks noGrp="1"/>
          </p:cNvSpPr>
          <p:nvPr>
            <p:ph idx="1"/>
          </p:nvPr>
        </p:nvSpPr>
        <p:spPr/>
        <p:txBody>
          <a:bodyPr>
            <a:normAutofit/>
          </a:bodyPr>
          <a:lstStyle/>
          <a:p>
            <a:pPr marL="0" marR="0" indent="0" algn="ctr">
              <a:lnSpc>
                <a:spcPct val="107000"/>
              </a:lnSpc>
              <a:spcBef>
                <a:spcPts val="0"/>
              </a:spcBef>
              <a:spcAft>
                <a:spcPts val="800"/>
              </a:spcAft>
              <a:buNone/>
            </a:pPr>
            <a:r>
              <a:rPr lang="en-IN" sz="2400" b="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Problem Statement</a:t>
            </a:r>
            <a:r>
              <a:rPr lang="en-IN"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gn="ctr">
              <a:lnSpc>
                <a:spcPct val="107000"/>
              </a:lnSpc>
              <a:spcBef>
                <a:spcPts val="0"/>
              </a:spcBef>
              <a:spcAft>
                <a:spcPts val="800"/>
              </a:spcAft>
              <a:buNone/>
            </a:pPr>
            <a:r>
              <a:rPr lang="en-IN"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Based on the census, personal details, financial details and other marketing campaign, predict if the customer will Subscribe for Term Deposit.</a:t>
            </a:r>
            <a:endPar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45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56C48-57CF-DC47-E733-A32FEDBECB42}"/>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34ACB438-64A5-A66E-D2A5-DA4D843EFA92}"/>
              </a:ext>
            </a:extLst>
          </p:cNvPr>
          <p:cNvSpPr>
            <a:spLocks noGrp="1"/>
          </p:cNvSpPr>
          <p:nvPr>
            <p:ph idx="1"/>
          </p:nvPr>
        </p:nvSpPr>
        <p:spPr/>
        <p:txBody>
          <a:bodyPr>
            <a:normAutofit fontScale="85000" lnSpcReduction="10000"/>
          </a:bodyPr>
          <a:lstStyle/>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is the classic marketing bank dataset uploaded originally in the UCI Machine Learning Repository. The dataset gives information about a marketing campaign of a financial institution in which we will analyze in order to find ways to look for future strategies in order to improve future marketing campaigns for the bank.</a:t>
            </a: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Gaining the maximum value from a particular data collection is a challenging endeavor since it necessitates a thorough analysis of its many properties and accompanying values. In order to uncover hidden patterns, this process is typically accomplished by presenting data in a visual way.</a:t>
            </a: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study, a bank's direct marketing data collection is subjected to several visualization approaches.</a:t>
            </a: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data set that was downloaded from the website of the UCI machine learning repository is unbalanced. As a result, several oversampling techniques are employed to improve the predictability of a client's subscription to a term deposit. The effectiveness of the visualization is evaluated by examining the impact of various classifier performance on oversampling strategies. </a:t>
            </a: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various feature engineering Technique, we be using different Ensemble Models to Predict the outcome.</a:t>
            </a:r>
          </a:p>
          <a:p>
            <a:endParaRPr lang="en-US" dirty="0"/>
          </a:p>
        </p:txBody>
      </p:sp>
    </p:spTree>
    <p:extLst>
      <p:ext uri="{BB962C8B-B14F-4D97-AF65-F5344CB8AC3E}">
        <p14:creationId xmlns:p14="http://schemas.microsoft.com/office/powerpoint/2010/main" val="334794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11E1-1F73-362D-2E69-34C1B6A9127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D5F99125-FC43-086B-3C49-EFB9D59E5A27}"/>
              </a:ext>
            </a:extLst>
          </p:cNvPr>
          <p:cNvSpPr>
            <a:spLocks noGrp="1"/>
          </p:cNvSpPr>
          <p:nvPr>
            <p:ph idx="1"/>
          </p:nvPr>
        </p:nvSpPr>
        <p:spPr/>
        <p:txBody>
          <a:bodyPr>
            <a:normAutofit/>
          </a:bodyPr>
          <a:lstStyle/>
          <a:p>
            <a:pPr algn="just"/>
            <a:r>
              <a:rPr lang="en-US" sz="1400" b="1" spc="-20" dirty="0">
                <a:solidFill>
                  <a:srgbClr val="292929"/>
                </a:solidFill>
                <a:effectLst/>
                <a:latin typeface="Calibri" panose="020F0502020204030204" pitchFamily="34" charset="0"/>
                <a:ea typeface="Calibri" panose="020F0502020204030204" pitchFamily="34" charset="0"/>
                <a:cs typeface="Times New Roman" panose="02020603050405020304" pitchFamily="18" charset="0"/>
              </a:rPr>
              <a:t>Deal Banking Marketing Campaign Dataset with Machine Learning: </a:t>
            </a:r>
            <a:r>
              <a:rPr lang="en-US" sz="1400" spc="-20" dirty="0">
                <a:solidFill>
                  <a:srgbClr val="292929"/>
                </a:solidFill>
                <a:latin typeface="Calibri" panose="020F0502020204030204" pitchFamily="34" charset="0"/>
                <a:ea typeface="Calibri" panose="020F0502020204030204" pitchFamily="34" charset="0"/>
                <a:cs typeface="Times New Roman" panose="02020603050405020304" pitchFamily="18" charset="0"/>
              </a:rPr>
              <a:t>T</a:t>
            </a:r>
            <a:r>
              <a:rPr lang="en-US" sz="1400" dirty="0">
                <a:effectLst/>
                <a:latin typeface="Calibri" panose="020F0502020204030204" pitchFamily="34" charset="0"/>
                <a:ea typeface="Calibri" panose="020F0502020204030204" pitchFamily="34" charset="0"/>
              </a:rPr>
              <a:t>hey used data related to marketing campaigns (phone calls) of a Portuguese banking institution. The classification goal is to predict if the client will subscribe a term deposit.</a:t>
            </a:r>
          </a:p>
          <a:p>
            <a:pPr algn="just"/>
            <a:r>
              <a:rPr lang="en-US" sz="1400" b="1" dirty="0">
                <a:effectLst/>
                <a:latin typeface="Calibri" panose="020F0502020204030204" pitchFamily="34" charset="0"/>
                <a:ea typeface="Calibri" panose="020F0502020204030204" pitchFamily="34" charset="0"/>
              </a:rPr>
              <a:t>“Marketing analytics: Methods, practice, implementation, and links to other fields,” Expert Systems with Applications</a:t>
            </a:r>
            <a:r>
              <a:rPr lang="en-US" sz="1400" b="1" dirty="0">
                <a:latin typeface="Calibri" panose="020F0502020204030204" pitchFamily="34" charset="0"/>
                <a:ea typeface="Calibri" panose="020F0502020204030204" pitchFamily="34" charset="0"/>
              </a:rPr>
              <a:t>:</a:t>
            </a:r>
            <a:r>
              <a:rPr lang="en-US" sz="1400" dirty="0">
                <a:effectLst/>
                <a:latin typeface="Calibri" panose="020F0502020204030204" pitchFamily="34" charset="0"/>
                <a:ea typeface="Calibri" panose="020F0502020204030204" pitchFamily="34" charset="0"/>
              </a:rPr>
              <a:t> The research in this paper examined the theoretical underpinnings of marketing analytics, a vast discipline that emerged from operations research, marketing, statistics, and computer science. One of the difficulties in doing a direct marketing analysis, they claimed, is forecasting consumer behavior. They also covered customer relationship management, multidimensional scaling, correspondence analysis, and latent Dirichlet allocation as big data visualization techniques for the marketing sector.</a:t>
            </a:r>
          </a:p>
          <a:p>
            <a:pPr algn="just"/>
            <a:r>
              <a:rPr lang="en-US" sz="1400" b="1" dirty="0">
                <a:effectLst/>
                <a:latin typeface="Calibri" panose="020F0502020204030204" pitchFamily="34" charset="0"/>
                <a:ea typeface="Calibri" panose="020F0502020204030204" pitchFamily="34" charset="0"/>
              </a:rPr>
              <a:t>“Customer profiling using classification approach for bank telemarketing,” JOIV: International Journal on Informatics Visualization: </a:t>
            </a:r>
            <a:r>
              <a:rPr lang="en-US" sz="1400" dirty="0">
                <a:latin typeface="Calibri" panose="020F0502020204030204" pitchFamily="34" charset="0"/>
                <a:ea typeface="Calibri" panose="020F0502020204030204" pitchFamily="34" charset="0"/>
              </a:rPr>
              <a:t>T</a:t>
            </a:r>
            <a:r>
              <a:rPr lang="en-US" sz="1400" dirty="0">
                <a:effectLst/>
                <a:latin typeface="Calibri" panose="020F0502020204030204" pitchFamily="34" charset="0"/>
                <a:ea typeface="Calibri" panose="020F0502020204030204" pitchFamily="34" charset="0"/>
              </a:rPr>
              <a:t>his article used the same data set for additional consumer profiling objectives. On the expanded version of the data set analyzed in the current work, naive Bayes, random forests, and decision trees were employed. Prior to assessing the classifiers, preprocessing and normalization were carried out. To carry out the trials and assessment procedures, RapidMiner was employed. </a:t>
            </a:r>
          </a:p>
          <a:p>
            <a:pPr algn="just"/>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400" dirty="0"/>
          </a:p>
        </p:txBody>
      </p:sp>
    </p:spTree>
    <p:extLst>
      <p:ext uri="{BB962C8B-B14F-4D97-AF65-F5344CB8AC3E}">
        <p14:creationId xmlns:p14="http://schemas.microsoft.com/office/powerpoint/2010/main" val="1326442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6825970-8066-0C25-6D54-72613F34279A}"/>
              </a:ext>
            </a:extLst>
          </p:cNvPr>
          <p:cNvSpPr>
            <a:spLocks noChangeArrowheads="1"/>
          </p:cNvSpPr>
          <p:nvPr/>
        </p:nvSpPr>
        <p:spPr bwMode="auto">
          <a:xfrm>
            <a:off x="955610" y="471758"/>
            <a:ext cx="9073293" cy="231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Architecture and Technology</a:t>
            </a:r>
            <a:endParaRPr kumimoji="0" lang="en-US" altLang="en-US" sz="14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We use Python for Data Processing and Modelling and </a:t>
            </a:r>
            <a:endParaRPr kumimoji="0" lang="en-US" altLang="en-US" sz="105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system OS we have used is Linux.</a:t>
            </a:r>
          </a:p>
          <a:p>
            <a:pPr marL="171450" indent="-171450" defTabSz="91440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Times New Roman" panose="02020603050405020304" pitchFamily="18" charset="0"/>
              </a:rPr>
              <a:t>Environment on </a:t>
            </a:r>
            <a:r>
              <a:rPr lang="en-US" altLang="en-US" dirty="0" err="1">
                <a:latin typeface="Calibri" panose="020F0502020204030204" pitchFamily="34" charset="0"/>
                <a:ea typeface="Calibri" panose="020F0502020204030204" pitchFamily="34" charset="0"/>
                <a:cs typeface="Times New Roman" panose="02020603050405020304" pitchFamily="18" charset="0"/>
              </a:rPr>
              <a:t>Colab</a:t>
            </a:r>
            <a:r>
              <a:rPr lang="en-US" altLang="en-US" dirty="0">
                <a:latin typeface="Calibri" panose="020F0502020204030204" pitchFamily="34" charset="0"/>
                <a:ea typeface="Calibri" panose="020F0502020204030204" pitchFamily="34" charset="0"/>
                <a:cs typeface="Times New Roman" panose="02020603050405020304" pitchFamily="18" charset="0"/>
              </a:rPr>
              <a:t> Notebook.</a:t>
            </a:r>
          </a:p>
          <a:p>
            <a:pPr marL="171450" indent="-171450" defTabSz="91440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Times New Roman" panose="02020603050405020304" pitchFamily="18" charset="0"/>
              </a:rPr>
              <a:t>User → Google Linux Server → Google Storage Bucket → Processing on Google Server.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8604A9F8-5143-30DF-8A83-B823CD07524F}"/>
              </a:ext>
            </a:extLst>
          </p:cNvPr>
          <p:cNvSpPr>
            <a:spLocks noChangeArrowheads="1"/>
          </p:cNvSpPr>
          <p:nvPr/>
        </p:nvSpPr>
        <p:spPr bwMode="auto">
          <a:xfrm>
            <a:off x="1858297" y="31610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Colaboratory + Drive + Github -&gt; the workflow made simpler">
            <a:extLst>
              <a:ext uri="{FF2B5EF4-FFF2-40B4-BE49-F238E27FC236}">
                <a16:creationId xmlns:a16="http://schemas.microsoft.com/office/drawing/2014/main" id="{B4836CCB-F48C-9448-CFFD-9D038C7E5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3161071"/>
            <a:ext cx="3331906" cy="251924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D45C116A-4E13-ABA0-5250-DCCA190AD823}"/>
              </a:ext>
            </a:extLst>
          </p:cNvPr>
          <p:cNvSpPr>
            <a:spLocks noChangeArrowheads="1"/>
          </p:cNvSpPr>
          <p:nvPr/>
        </p:nvSpPr>
        <p:spPr bwMode="auto">
          <a:xfrm>
            <a:off x="955610" y="5067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170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a:extLst>
              <a:ext uri="{FF2B5EF4-FFF2-40B4-BE49-F238E27FC236}">
                <a16:creationId xmlns:a16="http://schemas.microsoft.com/office/drawing/2014/main" id="{4B8654C0-ED5C-C36B-C7D1-6213E7B98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910" y="498235"/>
            <a:ext cx="6984590" cy="5464415"/>
          </a:xfrm>
          <a:prstGeom prst="rect">
            <a:avLst/>
          </a:prstGeom>
        </p:spPr>
      </p:pic>
    </p:spTree>
    <p:extLst>
      <p:ext uri="{BB962C8B-B14F-4D97-AF65-F5344CB8AC3E}">
        <p14:creationId xmlns:p14="http://schemas.microsoft.com/office/powerpoint/2010/main" val="3450318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CDC3-8DA7-4E58-AF8F-08A3AF18EB3B}"/>
              </a:ext>
            </a:extLst>
          </p:cNvPr>
          <p:cNvSpPr>
            <a:spLocks noGrp="1"/>
          </p:cNvSpPr>
          <p:nvPr>
            <p:ph type="title"/>
          </p:nvPr>
        </p:nvSpPr>
        <p:spPr/>
        <p:txBody>
          <a:bodyPr/>
          <a:lstStyle/>
          <a:p>
            <a:r>
              <a:rPr lang="en-IN" dirty="0"/>
              <a:t>About Dataset</a:t>
            </a:r>
          </a:p>
        </p:txBody>
      </p:sp>
      <p:sp>
        <p:nvSpPr>
          <p:cNvPr id="3" name="Content Placeholder 2">
            <a:extLst>
              <a:ext uri="{FF2B5EF4-FFF2-40B4-BE49-F238E27FC236}">
                <a16:creationId xmlns:a16="http://schemas.microsoft.com/office/drawing/2014/main" id="{D9C284D7-3093-43A4-B9A2-E8A83D656D69}"/>
              </a:ext>
            </a:extLst>
          </p:cNvPr>
          <p:cNvSpPr>
            <a:spLocks noGrp="1"/>
          </p:cNvSpPr>
          <p:nvPr>
            <p:ph idx="1"/>
          </p:nvPr>
        </p:nvSpPr>
        <p:spPr>
          <a:xfrm>
            <a:off x="677334" y="1752625"/>
            <a:ext cx="8596668" cy="3880773"/>
          </a:xfrm>
        </p:spPr>
        <p:txBody>
          <a:bodyPr/>
          <a:lstStyle/>
          <a:p>
            <a:r>
              <a:rPr lang="en-IN" sz="1800" dirty="0">
                <a:effectLst/>
                <a:latin typeface="Calibri" panose="020F0502020204030204" pitchFamily="34" charset="0"/>
                <a:ea typeface="Times New Roman" panose="02020603050405020304" pitchFamily="18" charset="0"/>
              </a:rPr>
              <a:t>The data is related with direct marketing campaigns (phone calls) of a Portuguese banking institution. </a:t>
            </a:r>
            <a:r>
              <a:rPr lang="en-IN" sz="1800" b="1" dirty="0">
                <a:effectLst/>
                <a:latin typeface="Calibri" panose="020F0502020204030204" pitchFamily="34" charset="0"/>
                <a:ea typeface="Times New Roman" panose="02020603050405020304" pitchFamily="18" charset="0"/>
              </a:rPr>
              <a:t>The classification goal is to predict if the client will subscribe a term deposit (variable y).</a:t>
            </a:r>
            <a:endParaRPr lang="en-IN" sz="1800" b="1" dirty="0">
              <a:effectLst/>
              <a:latin typeface="Times New Roman" panose="02020603050405020304" pitchFamily="18" charset="0"/>
              <a:ea typeface="Times New Roman" panose="02020603050405020304" pitchFamily="18" charset="0"/>
            </a:endParaRPr>
          </a:p>
          <a:p>
            <a:pPr marL="457200" algn="just"/>
            <a:r>
              <a:rPr lang="en-IN" sz="1800" dirty="0">
                <a:effectLst/>
                <a:latin typeface="Calibri" panose="020F0502020204030204" pitchFamily="34" charset="0"/>
                <a:ea typeface="Calibri" panose="020F0502020204030204" pitchFamily="34" charset="0"/>
                <a:cs typeface="Times New Roman" panose="02020603050405020304" pitchFamily="18" charset="0"/>
              </a:rPr>
              <a:t>The data is related with direct marketing campaigns of a Portuguese banking institution. The marketing campaigns were based on phone calls. Often, more than one contact to the same client was required, in order to access if the product (bank term deposit) would be ('yes') or not ('no') subscribed. </a:t>
            </a:r>
          </a:p>
          <a:p>
            <a:pPr marL="114300" indent="0" algn="jus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r>
              <a:rPr lang="en-IN" sz="1800" b="1" dirty="0">
                <a:effectLst/>
                <a:latin typeface="Calibri" panose="020F0502020204030204" pitchFamily="34" charset="0"/>
                <a:ea typeface="Calibri" panose="020F0502020204030204" pitchFamily="34" charset="0"/>
                <a:cs typeface="Times New Roman" panose="02020603050405020304" pitchFamily="18" charset="0"/>
              </a:rPr>
              <a:t>Data consists of 21 features and 41189 entries including personal and professional information of the Client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D863D44F-D8BB-1DA4-F47C-25FD80ED5790}"/>
              </a:ext>
            </a:extLst>
          </p:cNvPr>
          <p:cNvSpPr txBox="1"/>
          <p:nvPr/>
        </p:nvSpPr>
        <p:spPr>
          <a:xfrm>
            <a:off x="789039" y="5297440"/>
            <a:ext cx="7548716" cy="375552"/>
          </a:xfrm>
          <a:prstGeom prst="rect">
            <a:avLst/>
          </a:prstGeom>
          <a:noFill/>
        </p:spPr>
        <p:txBody>
          <a:bodyPr wrap="square">
            <a:spAutoFit/>
          </a:bodyPr>
          <a:lstStyle/>
          <a:p>
            <a:pPr marL="342900" marR="0" lvl="0" indent="-342900">
              <a:lnSpc>
                <a:spcPct val="107000"/>
              </a:lnSpc>
              <a:spcBef>
                <a:spcPts val="0"/>
              </a:spcBef>
              <a:spcAft>
                <a:spcPts val="800"/>
              </a:spcAft>
              <a:buFont typeface="Wingdings 3" panose="05040102010807070707" pitchFamily="18" charset="2"/>
              <a:buChar char=""/>
              <a:tabLst>
                <a:tab pos="457200" algn="l"/>
              </a:tabLs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Dataset Link</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http://archive.ics.uci.edu/ml/datasets/Bank+Marketing#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954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7F83D4-2C98-4199-AC70-EDF6971602FB}"/>
              </a:ext>
            </a:extLst>
          </p:cNvPr>
          <p:cNvSpPr txBox="1"/>
          <p:nvPr/>
        </p:nvSpPr>
        <p:spPr>
          <a:xfrm>
            <a:off x="1055076" y="1011087"/>
            <a:ext cx="3587262" cy="523220"/>
          </a:xfrm>
          <a:prstGeom prst="rect">
            <a:avLst/>
          </a:prstGeom>
          <a:noFill/>
        </p:spPr>
        <p:txBody>
          <a:bodyPr wrap="square">
            <a:spAutoFit/>
          </a:bodyPr>
          <a:lstStyle/>
          <a:p>
            <a:r>
              <a:rPr lang="en-IN" sz="2800" dirty="0">
                <a:solidFill>
                  <a:schemeClr val="accent1"/>
                </a:solidFill>
              </a:rPr>
              <a:t>Steps Performed:</a:t>
            </a:r>
          </a:p>
        </p:txBody>
      </p:sp>
      <p:sp>
        <p:nvSpPr>
          <p:cNvPr id="7" name="TextBox 6">
            <a:extLst>
              <a:ext uri="{FF2B5EF4-FFF2-40B4-BE49-F238E27FC236}">
                <a16:creationId xmlns:a16="http://schemas.microsoft.com/office/drawing/2014/main" id="{0FD4691A-55C4-43E2-8C17-8254D4AFA9D4}"/>
              </a:ext>
            </a:extLst>
          </p:cNvPr>
          <p:cNvSpPr txBox="1"/>
          <p:nvPr/>
        </p:nvSpPr>
        <p:spPr>
          <a:xfrm>
            <a:off x="1589649" y="1981930"/>
            <a:ext cx="6400800" cy="3970318"/>
          </a:xfrm>
          <a:prstGeom prst="rect">
            <a:avLst/>
          </a:prstGeom>
          <a:noFill/>
        </p:spPr>
        <p:txBody>
          <a:bodyPr wrap="square">
            <a:spAutoFit/>
          </a:bodyPr>
          <a:lstStyle/>
          <a:p>
            <a:pPr marL="285750" indent="-285750" algn="just">
              <a:buFont typeface="Arial" panose="020B0604020202020204" pitchFamily="34" charset="0"/>
              <a:buChar char="•"/>
            </a:pPr>
            <a:r>
              <a:rPr lang="en-IN" dirty="0"/>
              <a:t>Downloading and Setting up </a:t>
            </a:r>
            <a:r>
              <a:rPr lang="en-IN" dirty="0" err="1"/>
              <a:t>PySpark</a:t>
            </a:r>
            <a:r>
              <a:rPr lang="en-IN" dirty="0"/>
              <a:t> in COLAB</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Loading Data</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Short visualization on data</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Preparing dataset for training</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Building Machine Learning Models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Validation for comparison of different models using AUC</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2886459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7A771CC-394B-4DE4-B590-DF9A0E98A865}"/>
              </a:ext>
            </a:extLst>
          </p:cNvPr>
          <p:cNvSpPr txBox="1"/>
          <p:nvPr/>
        </p:nvSpPr>
        <p:spPr>
          <a:xfrm>
            <a:off x="3967089" y="2844225"/>
            <a:ext cx="4037428" cy="769441"/>
          </a:xfrm>
          <a:prstGeom prst="rect">
            <a:avLst/>
          </a:prstGeom>
          <a:noFill/>
        </p:spPr>
        <p:txBody>
          <a:bodyPr wrap="square" rtlCol="0">
            <a:spAutoFit/>
          </a:bodyPr>
          <a:lstStyle/>
          <a:p>
            <a:r>
              <a:rPr lang="en-IN" sz="4400" b="1" dirty="0">
                <a:solidFill>
                  <a:schemeClr val="accent1"/>
                </a:solidFill>
              </a:rPr>
              <a:t>Visualization</a:t>
            </a:r>
          </a:p>
        </p:txBody>
      </p:sp>
    </p:spTree>
    <p:extLst>
      <p:ext uri="{BB962C8B-B14F-4D97-AF65-F5344CB8AC3E}">
        <p14:creationId xmlns:p14="http://schemas.microsoft.com/office/powerpoint/2010/main" val="387915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2259E6-A966-4C2C-BD62-B9DFC8D12442}"/>
              </a:ext>
            </a:extLst>
          </p:cNvPr>
          <p:cNvSpPr txBox="1"/>
          <p:nvPr/>
        </p:nvSpPr>
        <p:spPr>
          <a:xfrm>
            <a:off x="1267282" y="749160"/>
            <a:ext cx="3488788" cy="369332"/>
          </a:xfrm>
          <a:prstGeom prst="rect">
            <a:avLst/>
          </a:prstGeom>
          <a:noFill/>
        </p:spPr>
        <p:txBody>
          <a:bodyPr wrap="square" rtlCol="0">
            <a:spAutoFit/>
          </a:bodyPr>
          <a:lstStyle/>
          <a:p>
            <a:r>
              <a:rPr lang="en-IN" dirty="0">
                <a:solidFill>
                  <a:schemeClr val="accent1"/>
                </a:solidFill>
              </a:rPr>
              <a:t>Glimpse of the Dataset</a:t>
            </a:r>
          </a:p>
        </p:txBody>
      </p:sp>
      <p:sp>
        <p:nvSpPr>
          <p:cNvPr id="11" name="TextBox 10">
            <a:extLst>
              <a:ext uri="{FF2B5EF4-FFF2-40B4-BE49-F238E27FC236}">
                <a16:creationId xmlns:a16="http://schemas.microsoft.com/office/drawing/2014/main" id="{36A80A31-95FB-4278-8478-8C38F4011FBB}"/>
              </a:ext>
            </a:extLst>
          </p:cNvPr>
          <p:cNvSpPr txBox="1"/>
          <p:nvPr/>
        </p:nvSpPr>
        <p:spPr>
          <a:xfrm>
            <a:off x="5491088" y="2643066"/>
            <a:ext cx="3488788" cy="923330"/>
          </a:xfrm>
          <a:prstGeom prst="rect">
            <a:avLst/>
          </a:prstGeom>
          <a:noFill/>
        </p:spPr>
        <p:txBody>
          <a:bodyPr wrap="square">
            <a:spAutoFit/>
          </a:bodyPr>
          <a:lstStyle/>
          <a:p>
            <a:r>
              <a:rPr lang="en-IN" dirty="0">
                <a:solidFill>
                  <a:schemeClr val="accent1"/>
                </a:solidFill>
              </a:rPr>
              <a:t>Data Type of each column: We can see that data is mix of integers and string</a:t>
            </a:r>
          </a:p>
        </p:txBody>
      </p:sp>
      <p:pic>
        <p:nvPicPr>
          <p:cNvPr id="3" name="Picture 2">
            <a:extLst>
              <a:ext uri="{FF2B5EF4-FFF2-40B4-BE49-F238E27FC236}">
                <a16:creationId xmlns:a16="http://schemas.microsoft.com/office/drawing/2014/main" id="{5018DC5F-48EE-4551-9497-C64400922302}"/>
              </a:ext>
            </a:extLst>
          </p:cNvPr>
          <p:cNvPicPr>
            <a:picLocks noChangeAspect="1"/>
          </p:cNvPicPr>
          <p:nvPr/>
        </p:nvPicPr>
        <p:blipFill>
          <a:blip r:embed="rId2"/>
          <a:stretch>
            <a:fillRect/>
          </a:stretch>
        </p:blipFill>
        <p:spPr>
          <a:xfrm>
            <a:off x="863488" y="1107517"/>
            <a:ext cx="4296375" cy="5001323"/>
          </a:xfrm>
          <a:prstGeom prst="rect">
            <a:avLst/>
          </a:prstGeom>
        </p:spPr>
      </p:pic>
      <p:pic>
        <p:nvPicPr>
          <p:cNvPr id="6" name="Picture 5">
            <a:extLst>
              <a:ext uri="{FF2B5EF4-FFF2-40B4-BE49-F238E27FC236}">
                <a16:creationId xmlns:a16="http://schemas.microsoft.com/office/drawing/2014/main" id="{0651161C-87CC-415E-8176-6113E864A20D}"/>
              </a:ext>
            </a:extLst>
          </p:cNvPr>
          <p:cNvPicPr>
            <a:picLocks noChangeAspect="1"/>
          </p:cNvPicPr>
          <p:nvPr/>
        </p:nvPicPr>
        <p:blipFill>
          <a:blip r:embed="rId3"/>
          <a:stretch>
            <a:fillRect/>
          </a:stretch>
        </p:blipFill>
        <p:spPr>
          <a:xfrm>
            <a:off x="5816059" y="3608178"/>
            <a:ext cx="2838846" cy="2915057"/>
          </a:xfrm>
          <a:prstGeom prst="rect">
            <a:avLst/>
          </a:prstGeom>
        </p:spPr>
      </p:pic>
    </p:spTree>
    <p:extLst>
      <p:ext uri="{BB962C8B-B14F-4D97-AF65-F5344CB8AC3E}">
        <p14:creationId xmlns:p14="http://schemas.microsoft.com/office/powerpoint/2010/main" val="2002670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AE486A8-5F00-4863-8D9B-5955D8804ED8}"/>
              </a:ext>
            </a:extLst>
          </p:cNvPr>
          <p:cNvSpPr txBox="1"/>
          <p:nvPr/>
        </p:nvSpPr>
        <p:spPr>
          <a:xfrm>
            <a:off x="1041009" y="436098"/>
            <a:ext cx="6400800" cy="461665"/>
          </a:xfrm>
          <a:prstGeom prst="rect">
            <a:avLst/>
          </a:prstGeom>
          <a:noFill/>
        </p:spPr>
        <p:txBody>
          <a:bodyPr wrap="square" rtlCol="0">
            <a:spAutoFit/>
          </a:bodyPr>
          <a:lstStyle/>
          <a:p>
            <a:r>
              <a:rPr lang="en-IN" sz="2400" dirty="0">
                <a:solidFill>
                  <a:schemeClr val="accent1"/>
                </a:solidFill>
              </a:rPr>
              <a:t>Here we can see Data set is imbalanced</a:t>
            </a:r>
          </a:p>
        </p:txBody>
      </p:sp>
      <p:sp>
        <p:nvSpPr>
          <p:cNvPr id="9" name="TextBox 8">
            <a:extLst>
              <a:ext uri="{FF2B5EF4-FFF2-40B4-BE49-F238E27FC236}">
                <a16:creationId xmlns:a16="http://schemas.microsoft.com/office/drawing/2014/main" id="{383B6949-46F3-44D2-98DB-B18DD75A64FA}"/>
              </a:ext>
            </a:extLst>
          </p:cNvPr>
          <p:cNvSpPr txBox="1"/>
          <p:nvPr/>
        </p:nvSpPr>
        <p:spPr>
          <a:xfrm>
            <a:off x="1041009" y="4974635"/>
            <a:ext cx="7512148" cy="369332"/>
          </a:xfrm>
          <a:prstGeom prst="rect">
            <a:avLst/>
          </a:prstGeom>
          <a:noFill/>
        </p:spPr>
        <p:txBody>
          <a:bodyPr wrap="square" rtlCol="0">
            <a:spAutoFit/>
          </a:bodyPr>
          <a:lstStyle/>
          <a:p>
            <a:r>
              <a:rPr lang="en-IN" dirty="0">
                <a:solidFill>
                  <a:schemeClr val="accent1"/>
                </a:solidFill>
              </a:rPr>
              <a:t>Therefore, there is a  need to use Perform up sampling techniques. </a:t>
            </a:r>
          </a:p>
        </p:txBody>
      </p:sp>
      <p:pic>
        <p:nvPicPr>
          <p:cNvPr id="3" name="Picture 2">
            <a:extLst>
              <a:ext uri="{FF2B5EF4-FFF2-40B4-BE49-F238E27FC236}">
                <a16:creationId xmlns:a16="http://schemas.microsoft.com/office/drawing/2014/main" id="{19467E41-9A9F-46EA-A491-0C6560970C43}"/>
              </a:ext>
            </a:extLst>
          </p:cNvPr>
          <p:cNvPicPr>
            <a:picLocks noChangeAspect="1"/>
          </p:cNvPicPr>
          <p:nvPr/>
        </p:nvPicPr>
        <p:blipFill>
          <a:blip r:embed="rId2"/>
          <a:stretch>
            <a:fillRect/>
          </a:stretch>
        </p:blipFill>
        <p:spPr>
          <a:xfrm>
            <a:off x="1041009" y="2433926"/>
            <a:ext cx="2386830" cy="1578691"/>
          </a:xfrm>
          <a:prstGeom prst="rect">
            <a:avLst/>
          </a:prstGeom>
        </p:spPr>
      </p:pic>
      <p:pic>
        <p:nvPicPr>
          <p:cNvPr id="6" name="Picture 5">
            <a:extLst>
              <a:ext uri="{FF2B5EF4-FFF2-40B4-BE49-F238E27FC236}">
                <a16:creationId xmlns:a16="http://schemas.microsoft.com/office/drawing/2014/main" id="{E0C6DE37-1940-4100-B616-91D52994DE9C}"/>
              </a:ext>
            </a:extLst>
          </p:cNvPr>
          <p:cNvPicPr>
            <a:picLocks noChangeAspect="1"/>
          </p:cNvPicPr>
          <p:nvPr/>
        </p:nvPicPr>
        <p:blipFill>
          <a:blip r:embed="rId3"/>
          <a:stretch>
            <a:fillRect/>
          </a:stretch>
        </p:blipFill>
        <p:spPr>
          <a:xfrm>
            <a:off x="4582748" y="1859780"/>
            <a:ext cx="3993545" cy="2515271"/>
          </a:xfrm>
          <a:prstGeom prst="rect">
            <a:avLst/>
          </a:prstGeom>
        </p:spPr>
      </p:pic>
    </p:spTree>
    <p:extLst>
      <p:ext uri="{BB962C8B-B14F-4D97-AF65-F5344CB8AC3E}">
        <p14:creationId xmlns:p14="http://schemas.microsoft.com/office/powerpoint/2010/main" val="2682732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686224-2046-4675-AB54-8F0D0ADC9F83}"/>
              </a:ext>
            </a:extLst>
          </p:cNvPr>
          <p:cNvPicPr>
            <a:picLocks noChangeAspect="1"/>
          </p:cNvPicPr>
          <p:nvPr/>
        </p:nvPicPr>
        <p:blipFill>
          <a:blip r:embed="rId2"/>
          <a:stretch>
            <a:fillRect/>
          </a:stretch>
        </p:blipFill>
        <p:spPr>
          <a:xfrm>
            <a:off x="1015554" y="2367933"/>
            <a:ext cx="3078143" cy="1619023"/>
          </a:xfrm>
          <a:prstGeom prst="rect">
            <a:avLst/>
          </a:prstGeom>
        </p:spPr>
      </p:pic>
      <p:pic>
        <p:nvPicPr>
          <p:cNvPr id="5" name="Picture 4">
            <a:extLst>
              <a:ext uri="{FF2B5EF4-FFF2-40B4-BE49-F238E27FC236}">
                <a16:creationId xmlns:a16="http://schemas.microsoft.com/office/drawing/2014/main" id="{AFB318A8-394D-415D-95AC-A332BA29DCB5}"/>
              </a:ext>
            </a:extLst>
          </p:cNvPr>
          <p:cNvPicPr>
            <a:picLocks noChangeAspect="1"/>
          </p:cNvPicPr>
          <p:nvPr/>
        </p:nvPicPr>
        <p:blipFill>
          <a:blip r:embed="rId3"/>
          <a:stretch>
            <a:fillRect/>
          </a:stretch>
        </p:blipFill>
        <p:spPr>
          <a:xfrm>
            <a:off x="3948940" y="1829504"/>
            <a:ext cx="4899637" cy="2795436"/>
          </a:xfrm>
          <a:prstGeom prst="rect">
            <a:avLst/>
          </a:prstGeom>
        </p:spPr>
      </p:pic>
      <p:sp>
        <p:nvSpPr>
          <p:cNvPr id="7" name="TextBox 6">
            <a:extLst>
              <a:ext uri="{FF2B5EF4-FFF2-40B4-BE49-F238E27FC236}">
                <a16:creationId xmlns:a16="http://schemas.microsoft.com/office/drawing/2014/main" id="{1CE076ED-E58E-4238-AAB0-5217CC8DA2FD}"/>
              </a:ext>
            </a:extLst>
          </p:cNvPr>
          <p:cNvSpPr txBox="1"/>
          <p:nvPr/>
        </p:nvSpPr>
        <p:spPr>
          <a:xfrm>
            <a:off x="1125415" y="729855"/>
            <a:ext cx="6400800" cy="707886"/>
          </a:xfrm>
          <a:prstGeom prst="rect">
            <a:avLst/>
          </a:prstGeom>
          <a:noFill/>
        </p:spPr>
        <p:txBody>
          <a:bodyPr wrap="square" rtlCol="0">
            <a:spAutoFit/>
          </a:bodyPr>
          <a:lstStyle/>
          <a:p>
            <a:r>
              <a:rPr lang="en-IN" sz="4000" dirty="0">
                <a:solidFill>
                  <a:schemeClr val="accent1"/>
                </a:solidFill>
              </a:rPr>
              <a:t>After Up Sampling the data</a:t>
            </a:r>
          </a:p>
        </p:txBody>
      </p:sp>
    </p:spTree>
    <p:extLst>
      <p:ext uri="{BB962C8B-B14F-4D97-AF65-F5344CB8AC3E}">
        <p14:creationId xmlns:p14="http://schemas.microsoft.com/office/powerpoint/2010/main" val="2622201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1AEBA6-F57B-4D1F-A60E-8C0B7EDBCE13}"/>
              </a:ext>
            </a:extLst>
          </p:cNvPr>
          <p:cNvSpPr txBox="1"/>
          <p:nvPr/>
        </p:nvSpPr>
        <p:spPr>
          <a:xfrm>
            <a:off x="1012875" y="464234"/>
            <a:ext cx="8117058" cy="1015663"/>
          </a:xfrm>
          <a:prstGeom prst="rect">
            <a:avLst/>
          </a:prstGeom>
          <a:noFill/>
        </p:spPr>
        <p:txBody>
          <a:bodyPr wrap="square" rtlCol="0">
            <a:spAutoFit/>
          </a:bodyPr>
          <a:lstStyle/>
          <a:p>
            <a:r>
              <a:rPr lang="en-IN" sz="2000" dirty="0">
                <a:solidFill>
                  <a:schemeClr val="accent1"/>
                </a:solidFill>
              </a:rPr>
              <a:t>Here we can see some basic statistical aggregations of the numerical columns</a:t>
            </a:r>
            <a:r>
              <a:rPr lang="en-IN" sz="1600" i="1" dirty="0">
                <a:solidFill>
                  <a:schemeClr val="accent1"/>
                </a:solidFill>
              </a:rPr>
              <a:t>. Like Age of the customers are between 18-95,etc</a:t>
            </a:r>
          </a:p>
          <a:p>
            <a:endParaRPr lang="en-IN" sz="2000" dirty="0">
              <a:solidFill>
                <a:schemeClr val="accent1"/>
              </a:solidFill>
            </a:endParaRPr>
          </a:p>
        </p:txBody>
      </p:sp>
      <p:pic>
        <p:nvPicPr>
          <p:cNvPr id="3" name="Picture 2">
            <a:extLst>
              <a:ext uri="{FF2B5EF4-FFF2-40B4-BE49-F238E27FC236}">
                <a16:creationId xmlns:a16="http://schemas.microsoft.com/office/drawing/2014/main" id="{692AC9BF-3A1A-48EC-A3E3-88D4F3005BB2}"/>
              </a:ext>
            </a:extLst>
          </p:cNvPr>
          <p:cNvPicPr>
            <a:picLocks noChangeAspect="1"/>
          </p:cNvPicPr>
          <p:nvPr/>
        </p:nvPicPr>
        <p:blipFill>
          <a:blip r:embed="rId2"/>
          <a:stretch>
            <a:fillRect/>
          </a:stretch>
        </p:blipFill>
        <p:spPr>
          <a:xfrm>
            <a:off x="1012875" y="1997604"/>
            <a:ext cx="8179407" cy="2862792"/>
          </a:xfrm>
          <a:prstGeom prst="rect">
            <a:avLst/>
          </a:prstGeom>
        </p:spPr>
      </p:pic>
    </p:spTree>
    <p:extLst>
      <p:ext uri="{BB962C8B-B14F-4D97-AF65-F5344CB8AC3E}">
        <p14:creationId xmlns:p14="http://schemas.microsoft.com/office/powerpoint/2010/main" val="3772917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BDA16D-EA37-475A-93FC-7EBD7C03087F}"/>
              </a:ext>
            </a:extLst>
          </p:cNvPr>
          <p:cNvSpPr txBox="1"/>
          <p:nvPr/>
        </p:nvSpPr>
        <p:spPr>
          <a:xfrm>
            <a:off x="1189059" y="457089"/>
            <a:ext cx="6105378" cy="1107996"/>
          </a:xfrm>
          <a:prstGeom prst="rect">
            <a:avLst/>
          </a:prstGeom>
          <a:noFill/>
        </p:spPr>
        <p:txBody>
          <a:bodyPr wrap="square">
            <a:spAutoFit/>
          </a:bodyPr>
          <a:lstStyle/>
          <a:p>
            <a:pPr algn="l"/>
            <a:r>
              <a:rPr lang="en-US" b="0" i="0" dirty="0">
                <a:solidFill>
                  <a:schemeClr val="accent1"/>
                </a:solidFill>
                <a:effectLst/>
                <a:latin typeface="Roboto"/>
              </a:rPr>
              <a:t>Pair Plot</a:t>
            </a:r>
          </a:p>
          <a:p>
            <a:pPr algn="l"/>
            <a:r>
              <a:rPr lang="en-US" sz="1600" b="0" i="0" dirty="0">
                <a:solidFill>
                  <a:srgbClr val="212121"/>
                </a:solidFill>
                <a:effectLst/>
                <a:latin typeface="Roboto"/>
              </a:rPr>
              <a:t>- There are no obvious highly correlated variable pairs</a:t>
            </a:r>
            <a:br>
              <a:rPr lang="en-US" sz="1600" dirty="0"/>
            </a:br>
            <a:r>
              <a:rPr lang="en-US" sz="1600" b="0" i="0" dirty="0">
                <a:solidFill>
                  <a:srgbClr val="212121"/>
                </a:solidFill>
                <a:effectLst/>
                <a:latin typeface="Roboto"/>
              </a:rPr>
              <a:t>- Let's remove day and month, but keep the rest of the variables</a:t>
            </a:r>
            <a:br>
              <a:rPr lang="en-US" sz="1600" dirty="0"/>
            </a:br>
            <a:r>
              <a:rPr lang="en-US" sz="1600" b="0" i="0" dirty="0">
                <a:solidFill>
                  <a:srgbClr val="212121"/>
                </a:solidFill>
                <a:effectLst/>
                <a:latin typeface="Roboto"/>
              </a:rPr>
              <a:t>- 14 input/predictor variables, 1 response/target variable</a:t>
            </a:r>
            <a:endParaRPr lang="en-US" sz="1600" b="0" i="0" dirty="0">
              <a:solidFill>
                <a:schemeClr val="accent1"/>
              </a:solidFill>
              <a:effectLst/>
              <a:latin typeface="Roboto"/>
            </a:endParaRPr>
          </a:p>
        </p:txBody>
      </p:sp>
      <p:pic>
        <p:nvPicPr>
          <p:cNvPr id="3" name="Picture 2">
            <a:extLst>
              <a:ext uri="{FF2B5EF4-FFF2-40B4-BE49-F238E27FC236}">
                <a16:creationId xmlns:a16="http://schemas.microsoft.com/office/drawing/2014/main" id="{B9568D0A-9DDA-4987-A90B-CE5BFB833D7E}"/>
              </a:ext>
            </a:extLst>
          </p:cNvPr>
          <p:cNvPicPr>
            <a:picLocks noChangeAspect="1"/>
          </p:cNvPicPr>
          <p:nvPr/>
        </p:nvPicPr>
        <p:blipFill>
          <a:blip r:embed="rId2"/>
          <a:stretch>
            <a:fillRect/>
          </a:stretch>
        </p:blipFill>
        <p:spPr>
          <a:xfrm>
            <a:off x="1020247" y="1565085"/>
            <a:ext cx="6029285" cy="5018595"/>
          </a:xfrm>
          <a:prstGeom prst="rect">
            <a:avLst/>
          </a:prstGeom>
        </p:spPr>
      </p:pic>
    </p:spTree>
    <p:extLst>
      <p:ext uri="{BB962C8B-B14F-4D97-AF65-F5344CB8AC3E}">
        <p14:creationId xmlns:p14="http://schemas.microsoft.com/office/powerpoint/2010/main" val="291358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9585AC-B900-46E6-9A80-397FECAC09D9}"/>
              </a:ext>
            </a:extLst>
          </p:cNvPr>
          <p:cNvPicPr>
            <a:picLocks noChangeAspect="1"/>
          </p:cNvPicPr>
          <p:nvPr/>
        </p:nvPicPr>
        <p:blipFill>
          <a:blip r:embed="rId2"/>
          <a:stretch>
            <a:fillRect/>
          </a:stretch>
        </p:blipFill>
        <p:spPr>
          <a:xfrm>
            <a:off x="1096146" y="1966658"/>
            <a:ext cx="6792273" cy="3715268"/>
          </a:xfrm>
          <a:prstGeom prst="rect">
            <a:avLst/>
          </a:prstGeom>
        </p:spPr>
      </p:pic>
      <p:sp>
        <p:nvSpPr>
          <p:cNvPr id="6" name="TextBox 5">
            <a:extLst>
              <a:ext uri="{FF2B5EF4-FFF2-40B4-BE49-F238E27FC236}">
                <a16:creationId xmlns:a16="http://schemas.microsoft.com/office/drawing/2014/main" id="{89A4C0EA-6BCF-4689-A2E9-A791552FA696}"/>
              </a:ext>
            </a:extLst>
          </p:cNvPr>
          <p:cNvSpPr txBox="1"/>
          <p:nvPr/>
        </p:nvSpPr>
        <p:spPr>
          <a:xfrm>
            <a:off x="1913207" y="714409"/>
            <a:ext cx="5683347" cy="923330"/>
          </a:xfrm>
          <a:prstGeom prst="rect">
            <a:avLst/>
          </a:prstGeom>
          <a:noFill/>
        </p:spPr>
        <p:txBody>
          <a:bodyPr wrap="square" rtlCol="0">
            <a:spAutoFit/>
          </a:bodyPr>
          <a:lstStyle/>
          <a:p>
            <a:r>
              <a:rPr lang="en-IN" dirty="0">
                <a:solidFill>
                  <a:schemeClr val="accent1"/>
                </a:solidFill>
              </a:rPr>
              <a:t>By looking at the distribution :</a:t>
            </a:r>
          </a:p>
          <a:p>
            <a:r>
              <a:rPr lang="en-IN" dirty="0">
                <a:solidFill>
                  <a:schemeClr val="accent1"/>
                </a:solidFill>
              </a:rPr>
              <a:t>We can see that distribution is rightly skewed and most of the customers are between the age of 25-60</a:t>
            </a:r>
          </a:p>
        </p:txBody>
      </p:sp>
    </p:spTree>
    <p:extLst>
      <p:ext uri="{BB962C8B-B14F-4D97-AF65-F5344CB8AC3E}">
        <p14:creationId xmlns:p14="http://schemas.microsoft.com/office/powerpoint/2010/main" val="222980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67DEC174-915F-450D-9782-EBD9AF49C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8167" y="2166936"/>
            <a:ext cx="4073623" cy="271233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3995BFBF-C2C4-4707-A0B0-7D40A0EBE987}"/>
              </a:ext>
            </a:extLst>
          </p:cNvPr>
          <p:cNvCxnSpPr/>
          <p:nvPr/>
        </p:nvCxnSpPr>
        <p:spPr>
          <a:xfrm>
            <a:off x="5331655" y="0"/>
            <a:ext cx="112542"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54469E7-6280-4501-81C0-8E25A0BFE1D1}"/>
              </a:ext>
            </a:extLst>
          </p:cNvPr>
          <p:cNvSpPr txBox="1"/>
          <p:nvPr/>
        </p:nvSpPr>
        <p:spPr>
          <a:xfrm>
            <a:off x="458517" y="1026941"/>
            <a:ext cx="4766603" cy="646331"/>
          </a:xfrm>
          <a:prstGeom prst="rect">
            <a:avLst/>
          </a:prstGeom>
          <a:noFill/>
        </p:spPr>
        <p:txBody>
          <a:bodyPr wrap="square" rtlCol="0">
            <a:spAutoFit/>
          </a:bodyPr>
          <a:lstStyle/>
          <a:p>
            <a:r>
              <a:rPr lang="en-IN" dirty="0">
                <a:solidFill>
                  <a:schemeClr val="accent1"/>
                </a:solidFill>
              </a:rPr>
              <a:t>We can see that Most of the customers are Married </a:t>
            </a:r>
          </a:p>
        </p:txBody>
      </p:sp>
      <p:sp>
        <p:nvSpPr>
          <p:cNvPr id="7" name="TextBox 6">
            <a:extLst>
              <a:ext uri="{FF2B5EF4-FFF2-40B4-BE49-F238E27FC236}">
                <a16:creationId xmlns:a16="http://schemas.microsoft.com/office/drawing/2014/main" id="{158AFC1C-40EE-4289-B517-DE1977A6A045}"/>
              </a:ext>
            </a:extLst>
          </p:cNvPr>
          <p:cNvSpPr txBox="1"/>
          <p:nvPr/>
        </p:nvSpPr>
        <p:spPr>
          <a:xfrm>
            <a:off x="5598941" y="1026941"/>
            <a:ext cx="4592074" cy="923330"/>
          </a:xfrm>
          <a:prstGeom prst="rect">
            <a:avLst/>
          </a:prstGeom>
          <a:noFill/>
        </p:spPr>
        <p:txBody>
          <a:bodyPr wrap="square" rtlCol="0">
            <a:spAutoFit/>
          </a:bodyPr>
          <a:lstStyle/>
          <a:p>
            <a:r>
              <a:rPr lang="en-IN" dirty="0">
                <a:solidFill>
                  <a:schemeClr val="accent1"/>
                </a:solidFill>
              </a:rPr>
              <a:t>Marketing we Hight active between May- Aug</a:t>
            </a:r>
          </a:p>
          <a:p>
            <a:r>
              <a:rPr lang="en-IN" dirty="0">
                <a:solidFill>
                  <a:schemeClr val="accent1"/>
                </a:solidFill>
              </a:rPr>
              <a:t>In May the campaign might be in pace </a:t>
            </a:r>
          </a:p>
        </p:txBody>
      </p:sp>
      <p:pic>
        <p:nvPicPr>
          <p:cNvPr id="3" name="Picture 2">
            <a:extLst>
              <a:ext uri="{FF2B5EF4-FFF2-40B4-BE49-F238E27FC236}">
                <a16:creationId xmlns:a16="http://schemas.microsoft.com/office/drawing/2014/main" id="{75AA9703-39A3-4CB2-946B-5EC61BEB073F}"/>
              </a:ext>
            </a:extLst>
          </p:cNvPr>
          <p:cNvPicPr>
            <a:picLocks noChangeAspect="1"/>
          </p:cNvPicPr>
          <p:nvPr/>
        </p:nvPicPr>
        <p:blipFill>
          <a:blip r:embed="rId3"/>
          <a:stretch>
            <a:fillRect/>
          </a:stretch>
        </p:blipFill>
        <p:spPr>
          <a:xfrm>
            <a:off x="458517" y="2446629"/>
            <a:ext cx="4459168" cy="2532090"/>
          </a:xfrm>
          <a:prstGeom prst="rect">
            <a:avLst/>
          </a:prstGeom>
        </p:spPr>
      </p:pic>
    </p:spTree>
    <p:extLst>
      <p:ext uri="{BB962C8B-B14F-4D97-AF65-F5344CB8AC3E}">
        <p14:creationId xmlns:p14="http://schemas.microsoft.com/office/powerpoint/2010/main" val="3112347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03196B-430D-4014-8362-134865448894}"/>
              </a:ext>
            </a:extLst>
          </p:cNvPr>
          <p:cNvSpPr txBox="1"/>
          <p:nvPr/>
        </p:nvSpPr>
        <p:spPr>
          <a:xfrm>
            <a:off x="1026940" y="861255"/>
            <a:ext cx="6654019" cy="461665"/>
          </a:xfrm>
          <a:prstGeom prst="rect">
            <a:avLst/>
          </a:prstGeom>
          <a:noFill/>
        </p:spPr>
        <p:txBody>
          <a:bodyPr wrap="square" rtlCol="0">
            <a:spAutoFit/>
          </a:bodyPr>
          <a:lstStyle/>
          <a:p>
            <a:r>
              <a:rPr lang="en-IN" sz="2400" b="1" dirty="0">
                <a:solidFill>
                  <a:schemeClr val="accent1"/>
                </a:solidFill>
              </a:rPr>
              <a:t>Pre-processing Before Modelling</a:t>
            </a:r>
          </a:p>
        </p:txBody>
      </p:sp>
      <p:sp>
        <p:nvSpPr>
          <p:cNvPr id="7" name="Rectangle 6">
            <a:extLst>
              <a:ext uri="{FF2B5EF4-FFF2-40B4-BE49-F238E27FC236}">
                <a16:creationId xmlns:a16="http://schemas.microsoft.com/office/drawing/2014/main" id="{8F7041F8-96FA-4234-BE5A-AA0A4D016921}"/>
              </a:ext>
            </a:extLst>
          </p:cNvPr>
          <p:cNvSpPr/>
          <p:nvPr/>
        </p:nvSpPr>
        <p:spPr>
          <a:xfrm>
            <a:off x="1305950" y="1725194"/>
            <a:ext cx="6096000" cy="4247317"/>
          </a:xfrm>
          <a:prstGeom prst="rect">
            <a:avLst/>
          </a:prstGeom>
        </p:spPr>
        <p:txBody>
          <a:bodyPr>
            <a:spAutoFit/>
          </a:bodyPr>
          <a:lstStyle/>
          <a:p>
            <a:pPr marL="285750" indent="-285750" algn="just">
              <a:buFont typeface="Arial" panose="020B0604020202020204" pitchFamily="34" charset="0"/>
              <a:buChar char="•"/>
            </a:pPr>
            <a:r>
              <a:rPr lang="en-IN" dirty="0"/>
              <a:t>Looking for NA values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Train Test Split</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Label encoding</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Choosing relevant variables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Up sampling Data</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Vectorizing the data</a:t>
            </a:r>
          </a:p>
          <a:p>
            <a:pPr algn="just"/>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1450346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2B57-BCFB-40B7-A08D-0C04BAAAD3E3}"/>
              </a:ext>
            </a:extLst>
          </p:cNvPr>
          <p:cNvSpPr>
            <a:spLocks noGrp="1"/>
          </p:cNvSpPr>
          <p:nvPr>
            <p:ph type="title"/>
          </p:nvPr>
        </p:nvSpPr>
        <p:spPr>
          <a:xfrm>
            <a:off x="677334" y="609600"/>
            <a:ext cx="8596668" cy="656492"/>
          </a:xfrm>
        </p:spPr>
        <p:txBody>
          <a:bodyPr/>
          <a:lstStyle/>
          <a:p>
            <a:r>
              <a:rPr lang="en-IN" dirty="0"/>
              <a:t>Basic Models used:</a:t>
            </a:r>
          </a:p>
        </p:txBody>
      </p:sp>
      <p:sp>
        <p:nvSpPr>
          <p:cNvPr id="3" name="Content Placeholder 2">
            <a:extLst>
              <a:ext uri="{FF2B5EF4-FFF2-40B4-BE49-F238E27FC236}">
                <a16:creationId xmlns:a16="http://schemas.microsoft.com/office/drawing/2014/main" id="{689FD036-5760-45FF-9348-172DF98AC868}"/>
              </a:ext>
            </a:extLst>
          </p:cNvPr>
          <p:cNvSpPr>
            <a:spLocks noGrp="1"/>
          </p:cNvSpPr>
          <p:nvPr>
            <p:ph idx="1"/>
          </p:nvPr>
        </p:nvSpPr>
        <p:spPr>
          <a:xfrm>
            <a:off x="677333" y="1266093"/>
            <a:ext cx="9071577" cy="4775270"/>
          </a:xfrm>
        </p:spPr>
        <p:txBody>
          <a:bodyPr>
            <a:normAutofit/>
          </a:bodyPr>
          <a:lstStyle/>
          <a:p>
            <a:endParaRPr lang="en-IN" sz="2000" b="1" dirty="0"/>
          </a:p>
          <a:p>
            <a:r>
              <a:rPr lang="en-IN" sz="2000" b="1" dirty="0"/>
              <a:t>Logistic Regression</a:t>
            </a:r>
            <a:r>
              <a:rPr lang="en-IN" dirty="0"/>
              <a:t>: </a:t>
            </a:r>
            <a:r>
              <a:rPr lang="en-US" i="0" dirty="0">
                <a:solidFill>
                  <a:srgbClr val="222222"/>
                </a:solidFill>
                <a:effectLst/>
                <a:latin typeface="arial" panose="020B0604020202020204" pitchFamily="34" charset="0"/>
              </a:rPr>
              <a:t>Logistic regression is a statistical model that in its basic form uses a logistic function to model a binary dependent variable, although many more complex extensions exist. In regression analysis, logistic regression (or logit regression) is estimating the parameters of a logistic model (a form of binary regression).</a:t>
            </a:r>
          </a:p>
          <a:p>
            <a:endParaRPr lang="en-IN" dirty="0"/>
          </a:p>
          <a:p>
            <a:r>
              <a:rPr lang="en-IN" b="1" dirty="0"/>
              <a:t>Decision Tree</a:t>
            </a:r>
            <a:r>
              <a:rPr lang="en-IN" dirty="0"/>
              <a:t>:</a:t>
            </a:r>
            <a:r>
              <a:rPr lang="en-US" i="0" dirty="0">
                <a:solidFill>
                  <a:srgbClr val="222222"/>
                </a:solidFill>
                <a:effectLst/>
                <a:latin typeface="arial" panose="020B0604020202020204" pitchFamily="34" charset="0"/>
              </a:rPr>
              <a:t>A decision tree is a flowchart-like structure in which each internal node represents a "test" on an attribute (e.g. whether a coin flip comes up heads or tails), each branch represents the outcome of the test, and each leaf node represents a class label (decision taken after computing all attributes).</a:t>
            </a:r>
            <a:endParaRPr lang="en-IN" dirty="0"/>
          </a:p>
        </p:txBody>
      </p:sp>
    </p:spTree>
    <p:extLst>
      <p:ext uri="{BB962C8B-B14F-4D97-AF65-F5344CB8AC3E}">
        <p14:creationId xmlns:p14="http://schemas.microsoft.com/office/powerpoint/2010/main" val="3607581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0B53-4A6B-4300-B4B6-3119DAAE4587}"/>
              </a:ext>
            </a:extLst>
          </p:cNvPr>
          <p:cNvSpPr>
            <a:spLocks noGrp="1"/>
          </p:cNvSpPr>
          <p:nvPr>
            <p:ph type="title"/>
          </p:nvPr>
        </p:nvSpPr>
        <p:spPr/>
        <p:txBody>
          <a:bodyPr/>
          <a:lstStyle/>
          <a:p>
            <a:r>
              <a:rPr lang="en-IN" dirty="0"/>
              <a:t>Ensemble models used:</a:t>
            </a:r>
          </a:p>
        </p:txBody>
      </p:sp>
      <p:sp>
        <p:nvSpPr>
          <p:cNvPr id="3" name="Content Placeholder 2">
            <a:extLst>
              <a:ext uri="{FF2B5EF4-FFF2-40B4-BE49-F238E27FC236}">
                <a16:creationId xmlns:a16="http://schemas.microsoft.com/office/drawing/2014/main" id="{46B73EBA-6663-496E-AE8B-EAC9F641EDE5}"/>
              </a:ext>
            </a:extLst>
          </p:cNvPr>
          <p:cNvSpPr>
            <a:spLocks noGrp="1"/>
          </p:cNvSpPr>
          <p:nvPr>
            <p:ph idx="1"/>
          </p:nvPr>
        </p:nvSpPr>
        <p:spPr>
          <a:xfrm>
            <a:off x="677334" y="1696355"/>
            <a:ext cx="8596668" cy="3880773"/>
          </a:xfrm>
        </p:spPr>
        <p:txBody>
          <a:bodyPr/>
          <a:lstStyle/>
          <a:p>
            <a:r>
              <a:rPr lang="en-IN" sz="2000" b="1" dirty="0"/>
              <a:t>Random Forest</a:t>
            </a:r>
            <a:r>
              <a:rPr lang="en-IN" dirty="0"/>
              <a:t>:</a:t>
            </a:r>
            <a:r>
              <a:rPr lang="en-US" i="0" dirty="0">
                <a:solidFill>
                  <a:srgbClr val="222222"/>
                </a:solidFill>
                <a:effectLst/>
                <a:latin typeface="arial" panose="020B0604020202020204" pitchFamily="34" charset="0"/>
              </a:rPr>
              <a:t>Random forests or random decision forests are an ensemble learning method for classification, regression and other tasks that operate by constructing a multitude of decision trees at training time and outputting the class that is the mode of the classes (classification) or mean/average prediction (regression) </a:t>
            </a:r>
          </a:p>
          <a:p>
            <a:endParaRPr lang="en-IN" dirty="0"/>
          </a:p>
          <a:p>
            <a:r>
              <a:rPr lang="en-IN" sz="2000" b="1" dirty="0"/>
              <a:t>Gradient Boosting</a:t>
            </a:r>
            <a:r>
              <a:rPr lang="en-IN" dirty="0"/>
              <a:t>:</a:t>
            </a:r>
            <a:r>
              <a:rPr lang="en-US" b="1" i="0" dirty="0">
                <a:solidFill>
                  <a:srgbClr val="222222"/>
                </a:solidFill>
                <a:effectLst/>
                <a:latin typeface="arial" panose="020B0604020202020204" pitchFamily="34" charset="0"/>
              </a:rPr>
              <a:t> </a:t>
            </a:r>
            <a:r>
              <a:rPr lang="en-US" i="0" dirty="0">
                <a:solidFill>
                  <a:srgbClr val="222222"/>
                </a:solidFill>
                <a:effectLst/>
                <a:latin typeface="arial" panose="020B0604020202020204" pitchFamily="34" charset="0"/>
              </a:rPr>
              <a:t>Gradient boosting is a machine learning technique for regression and classification problems, which produces a prediction model in the form of an ensemble of weak prediction models, typically decision trees.</a:t>
            </a:r>
            <a:endParaRPr lang="en-IN" dirty="0"/>
          </a:p>
          <a:p>
            <a:endParaRPr lang="en-IN" dirty="0"/>
          </a:p>
        </p:txBody>
      </p:sp>
    </p:spTree>
    <p:extLst>
      <p:ext uri="{BB962C8B-B14F-4D97-AF65-F5344CB8AC3E}">
        <p14:creationId xmlns:p14="http://schemas.microsoft.com/office/powerpoint/2010/main" val="1506230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EFA0-6B74-4F7B-BB4D-377330D9ED51}"/>
              </a:ext>
            </a:extLst>
          </p:cNvPr>
          <p:cNvSpPr>
            <a:spLocks noGrp="1"/>
          </p:cNvSpPr>
          <p:nvPr>
            <p:ph type="title"/>
          </p:nvPr>
        </p:nvSpPr>
        <p:spPr/>
        <p:txBody>
          <a:bodyPr>
            <a:normAutofit/>
          </a:bodyPr>
          <a:lstStyle/>
          <a:p>
            <a:r>
              <a:rPr lang="en-IN" dirty="0"/>
              <a:t>Results: </a:t>
            </a:r>
            <a:r>
              <a:rPr lang="en-IN" sz="3100" dirty="0"/>
              <a:t>After ParamGrid and Crossvalidation</a:t>
            </a:r>
            <a:br>
              <a:rPr lang="en-IN" dirty="0"/>
            </a:br>
            <a:endParaRPr lang="en-IN" dirty="0"/>
          </a:p>
        </p:txBody>
      </p:sp>
      <p:graphicFrame>
        <p:nvGraphicFramePr>
          <p:cNvPr id="4" name="Table 4">
            <a:extLst>
              <a:ext uri="{FF2B5EF4-FFF2-40B4-BE49-F238E27FC236}">
                <a16:creationId xmlns:a16="http://schemas.microsoft.com/office/drawing/2014/main" id="{011F1F93-B3AA-47B7-A84B-D62B470161EC}"/>
              </a:ext>
            </a:extLst>
          </p:cNvPr>
          <p:cNvGraphicFramePr>
            <a:graphicFrameLocks noGrp="1"/>
          </p:cNvGraphicFramePr>
          <p:nvPr>
            <p:extLst>
              <p:ext uri="{D42A27DB-BD31-4B8C-83A1-F6EECF244321}">
                <p14:modId xmlns:p14="http://schemas.microsoft.com/office/powerpoint/2010/main" val="3642565424"/>
              </p:ext>
            </p:extLst>
          </p:nvPr>
        </p:nvGraphicFramePr>
        <p:xfrm>
          <a:off x="576775" y="1930400"/>
          <a:ext cx="8989256" cy="736600"/>
        </p:xfrm>
        <a:graphic>
          <a:graphicData uri="http://schemas.openxmlformats.org/drawingml/2006/table">
            <a:tbl>
              <a:tblPr firstRow="1" bandRow="1">
                <a:tableStyleId>{5C22544A-7EE6-4342-B048-85BDC9FD1C3A}</a:tableStyleId>
              </a:tblPr>
              <a:tblGrid>
                <a:gridCol w="2247314">
                  <a:extLst>
                    <a:ext uri="{9D8B030D-6E8A-4147-A177-3AD203B41FA5}">
                      <a16:colId xmlns:a16="http://schemas.microsoft.com/office/drawing/2014/main" val="3303616643"/>
                    </a:ext>
                  </a:extLst>
                </a:gridCol>
                <a:gridCol w="2247314">
                  <a:extLst>
                    <a:ext uri="{9D8B030D-6E8A-4147-A177-3AD203B41FA5}">
                      <a16:colId xmlns:a16="http://schemas.microsoft.com/office/drawing/2014/main" val="895287934"/>
                    </a:ext>
                  </a:extLst>
                </a:gridCol>
                <a:gridCol w="2247314">
                  <a:extLst>
                    <a:ext uri="{9D8B030D-6E8A-4147-A177-3AD203B41FA5}">
                      <a16:colId xmlns:a16="http://schemas.microsoft.com/office/drawing/2014/main" val="3674929137"/>
                    </a:ext>
                  </a:extLst>
                </a:gridCol>
                <a:gridCol w="2247314">
                  <a:extLst>
                    <a:ext uri="{9D8B030D-6E8A-4147-A177-3AD203B41FA5}">
                      <a16:colId xmlns:a16="http://schemas.microsoft.com/office/drawing/2014/main" val="4089817497"/>
                    </a:ext>
                  </a:extLst>
                </a:gridCol>
              </a:tblGrid>
              <a:tr h="370840">
                <a:tc>
                  <a:txBody>
                    <a:bodyPr/>
                    <a:lstStyle/>
                    <a:p>
                      <a:r>
                        <a:rPr lang="en-IN" dirty="0"/>
                        <a:t>Logistic Regression</a:t>
                      </a:r>
                    </a:p>
                  </a:txBody>
                  <a:tcPr/>
                </a:tc>
                <a:tc>
                  <a:txBody>
                    <a:bodyPr/>
                    <a:lstStyle/>
                    <a:p>
                      <a:r>
                        <a:rPr lang="en-IN" dirty="0"/>
                        <a:t>Decision Tree</a:t>
                      </a:r>
                    </a:p>
                  </a:txBody>
                  <a:tcPr/>
                </a:tc>
                <a:tc>
                  <a:txBody>
                    <a:bodyPr/>
                    <a:lstStyle/>
                    <a:p>
                      <a:r>
                        <a:rPr lang="en-IN" dirty="0"/>
                        <a:t>Random Forest</a:t>
                      </a:r>
                    </a:p>
                  </a:txBody>
                  <a:tcPr/>
                </a:tc>
                <a:tc>
                  <a:txBody>
                    <a:bodyPr/>
                    <a:lstStyle/>
                    <a:p>
                      <a:r>
                        <a:rPr lang="en-IN" dirty="0"/>
                        <a:t>Gradient Boosting</a:t>
                      </a:r>
                    </a:p>
                  </a:txBody>
                  <a:tcPr/>
                </a:tc>
                <a:extLst>
                  <a:ext uri="{0D108BD9-81ED-4DB2-BD59-A6C34878D82A}">
                    <a16:rowId xmlns:a16="http://schemas.microsoft.com/office/drawing/2014/main" val="1282913107"/>
                  </a:ext>
                </a:extLst>
              </a:tr>
              <a:tr h="273148">
                <a:tc>
                  <a:txBody>
                    <a:bodyPr/>
                    <a:lstStyle/>
                    <a:p>
                      <a:r>
                        <a:rPr lang="en-IN" sz="1800" b="0" i="0" kern="1200" dirty="0">
                          <a:solidFill>
                            <a:schemeClr val="dk1"/>
                          </a:solidFill>
                          <a:effectLst/>
                          <a:latin typeface="+mn-lt"/>
                          <a:ea typeface="+mn-ea"/>
                          <a:cs typeface="+mn-cs"/>
                        </a:rPr>
                        <a:t>0.8960</a:t>
                      </a:r>
                      <a:endParaRPr lang="en-IN" dirty="0"/>
                    </a:p>
                  </a:txBody>
                  <a:tcPr/>
                </a:tc>
                <a:tc>
                  <a:txBody>
                    <a:bodyPr/>
                    <a:lstStyle/>
                    <a:p>
                      <a:r>
                        <a:rPr lang="en-IN" sz="1800" b="0" i="0" kern="1200" dirty="0">
                          <a:solidFill>
                            <a:schemeClr val="dk1"/>
                          </a:solidFill>
                          <a:effectLst/>
                          <a:latin typeface="+mn-lt"/>
                          <a:ea typeface="+mn-ea"/>
                          <a:cs typeface="+mn-cs"/>
                        </a:rPr>
                        <a:t>0.6680</a:t>
                      </a:r>
                      <a:endParaRPr lang="en-IN" dirty="0"/>
                    </a:p>
                  </a:txBody>
                  <a:tcPr/>
                </a:tc>
                <a:tc>
                  <a:txBody>
                    <a:bodyPr/>
                    <a:lstStyle/>
                    <a:p>
                      <a:r>
                        <a:rPr lang="en-IN" sz="1800" b="0" i="0" kern="1200" dirty="0">
                          <a:solidFill>
                            <a:schemeClr val="dk1"/>
                          </a:solidFill>
                          <a:effectLst/>
                          <a:latin typeface="+mn-lt"/>
                          <a:ea typeface="+mn-ea"/>
                          <a:cs typeface="+mn-cs"/>
                        </a:rPr>
                        <a:t>0.8855</a:t>
                      </a:r>
                      <a:endParaRPr lang="en-IN" dirty="0"/>
                    </a:p>
                  </a:txBody>
                  <a:tcPr/>
                </a:tc>
                <a:tc>
                  <a:txBody>
                    <a:bodyPr/>
                    <a:lstStyle/>
                    <a:p>
                      <a:r>
                        <a:rPr lang="en-IN" sz="1800" b="0" i="0" kern="1200" dirty="0">
                          <a:solidFill>
                            <a:schemeClr val="dk1"/>
                          </a:solidFill>
                          <a:effectLst/>
                          <a:latin typeface="+mn-lt"/>
                          <a:ea typeface="+mn-ea"/>
                          <a:cs typeface="+mn-cs"/>
                        </a:rPr>
                        <a:t>0.9032</a:t>
                      </a:r>
                      <a:endParaRPr lang="en-IN" dirty="0"/>
                    </a:p>
                  </a:txBody>
                  <a:tcPr/>
                </a:tc>
                <a:extLst>
                  <a:ext uri="{0D108BD9-81ED-4DB2-BD59-A6C34878D82A}">
                    <a16:rowId xmlns:a16="http://schemas.microsoft.com/office/drawing/2014/main" val="3800597905"/>
                  </a:ext>
                </a:extLst>
              </a:tr>
            </a:tbl>
          </a:graphicData>
        </a:graphic>
      </p:graphicFrame>
      <p:sp>
        <p:nvSpPr>
          <p:cNvPr id="9" name="TextBox 8">
            <a:extLst>
              <a:ext uri="{FF2B5EF4-FFF2-40B4-BE49-F238E27FC236}">
                <a16:creationId xmlns:a16="http://schemas.microsoft.com/office/drawing/2014/main" id="{A46D406F-A83B-4E29-AE5E-66CC360A786B}"/>
              </a:ext>
            </a:extLst>
          </p:cNvPr>
          <p:cNvSpPr txBox="1"/>
          <p:nvPr/>
        </p:nvSpPr>
        <p:spPr>
          <a:xfrm>
            <a:off x="779975" y="3429000"/>
            <a:ext cx="7807569" cy="2462213"/>
          </a:xfrm>
          <a:prstGeom prst="rect">
            <a:avLst/>
          </a:prstGeom>
          <a:noFill/>
        </p:spPr>
        <p:txBody>
          <a:bodyPr wrap="square">
            <a:spAutoFit/>
          </a:bodyPr>
          <a:lstStyle/>
          <a:p>
            <a:pPr algn="l"/>
            <a:r>
              <a:rPr lang="en-US" sz="2800" b="1" i="0" dirty="0">
                <a:solidFill>
                  <a:srgbClr val="92D050"/>
                </a:solidFill>
                <a:effectLst/>
                <a:latin typeface="Roboto"/>
              </a:rPr>
              <a:t>Conclusion</a:t>
            </a:r>
            <a:r>
              <a:rPr lang="en-US" b="1" i="0" dirty="0">
                <a:solidFill>
                  <a:srgbClr val="92D050"/>
                </a:solidFill>
                <a:effectLst/>
                <a:latin typeface="Roboto"/>
              </a:rPr>
              <a:t>:</a:t>
            </a:r>
          </a:p>
          <a:p>
            <a:pPr algn="l"/>
            <a:endParaRPr lang="en-US" b="0" i="0" dirty="0">
              <a:solidFill>
                <a:srgbClr val="92D050"/>
              </a:solidFill>
              <a:effectLst/>
              <a:latin typeface="Roboto"/>
            </a:endParaRPr>
          </a:p>
          <a:p>
            <a:pPr algn="l"/>
            <a:r>
              <a:rPr lang="en-US" b="0" i="0" dirty="0">
                <a:effectLst/>
                <a:latin typeface="var(--colab-chrome-font-family)"/>
              </a:rPr>
              <a:t>As we can see that ROC Score for Boosting Algorithm is slight higher than the other As it converts weak learner to strong learners.</a:t>
            </a:r>
          </a:p>
          <a:p>
            <a:pPr algn="l"/>
            <a:endParaRPr lang="en-US" b="0" i="0" dirty="0">
              <a:effectLst/>
              <a:latin typeface="var(--colab-chrome-font-family)"/>
            </a:endParaRPr>
          </a:p>
          <a:p>
            <a:pPr algn="l"/>
            <a:r>
              <a:rPr lang="en-US" b="1" i="0" dirty="0">
                <a:effectLst/>
                <a:latin typeface="Roboto"/>
              </a:rPr>
              <a:t>Therefore we can Move ahead with the Gradient Boosting with the Best Params which we have found using Grid Search and validated using Cross Validation.</a:t>
            </a:r>
          </a:p>
        </p:txBody>
      </p:sp>
    </p:spTree>
    <p:extLst>
      <p:ext uri="{BB962C8B-B14F-4D97-AF65-F5344CB8AC3E}">
        <p14:creationId xmlns:p14="http://schemas.microsoft.com/office/powerpoint/2010/main" val="1404567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8AEEB9-D194-49BE-81B8-AF16BC85E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2333" y="178206"/>
            <a:ext cx="6501587" cy="6501587"/>
          </a:xfrm>
          <a:prstGeom prst="rect">
            <a:avLst/>
          </a:prstGeom>
        </p:spPr>
      </p:pic>
    </p:spTree>
    <p:extLst>
      <p:ext uri="{BB962C8B-B14F-4D97-AF65-F5344CB8AC3E}">
        <p14:creationId xmlns:p14="http://schemas.microsoft.com/office/powerpoint/2010/main" val="2098755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ow To Write A Thank You Note In Five Easy Steps">
            <a:extLst>
              <a:ext uri="{FF2B5EF4-FFF2-40B4-BE49-F238E27FC236}">
                <a16:creationId xmlns:a16="http://schemas.microsoft.com/office/drawing/2014/main" id="{D1B1A649-8874-4665-8EC4-38DBCFAC0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792" y="1590241"/>
            <a:ext cx="6545105" cy="367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5578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718</TotalTime>
  <Words>1232</Words>
  <Application>Microsoft Office PowerPoint</Application>
  <PresentationFormat>Widescreen</PresentationFormat>
  <Paragraphs>95</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Arial</vt:lpstr>
      <vt:lpstr>Calibri</vt:lpstr>
      <vt:lpstr>Calibri Light</vt:lpstr>
      <vt:lpstr>Roboto</vt:lpstr>
      <vt:lpstr>Times New Roman</vt:lpstr>
      <vt:lpstr>Trebuchet MS</vt:lpstr>
      <vt:lpstr>var(--colab-chrome-font-family)</vt:lpstr>
      <vt:lpstr>Wingdings 3</vt:lpstr>
      <vt:lpstr>Facet</vt:lpstr>
      <vt:lpstr>Bank Marketing: To Predict if the client will Subscribe for Term Deposit</vt:lpstr>
      <vt:lpstr>Bank Marketing</vt:lpstr>
      <vt:lpstr>PowerPoint Presentation</vt:lpstr>
      <vt:lpstr>Overview</vt:lpstr>
      <vt:lpstr>Literature Review</vt:lpstr>
      <vt:lpstr>PowerPoint Presentation</vt:lpstr>
      <vt:lpstr>PowerPoint Presentation</vt:lpstr>
      <vt:lpstr>About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Models used:</vt:lpstr>
      <vt:lpstr>Ensemble models used:</vt:lpstr>
      <vt:lpstr>Results: After ParamGrid and Crossvalidation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dc:title>
  <dc:creator>Saruk Shaikh</dc:creator>
  <cp:lastModifiedBy>Saruk Abdul Halim Shaikh</cp:lastModifiedBy>
  <cp:revision>32</cp:revision>
  <dcterms:created xsi:type="dcterms:W3CDTF">2020-10-19T10:07:21Z</dcterms:created>
  <dcterms:modified xsi:type="dcterms:W3CDTF">2022-11-21T08:27:34Z</dcterms:modified>
</cp:coreProperties>
</file>